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we're Team AccessRelay. Thanks for having us. One sentence to start: nobody visits a building, they visit a service, and today's accessibility maps only ever tell you about the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hook. We want the room to feel the gap before we show anything: a static accessible checkmark and a broken lift look exactly the same on every map that exists today, and that gap is where someone actually gets stuck.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live app now. Drag the preview-time slider first, a currently-clear segment flips to "needs a fresh check" on camera. Then report the shared gate and point at the Campus Priority banner. Then claim the ramp as staff and try to recheck it yourself, let it get rejected on camera. Then switch to reviewer and fail, then pass, the recheck. Then drag time forward on a pending claim to show the overdue warning and escalation draft. Then download the audit trail and open the JSON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invariant that matters. It is enforced in code today (domain.js throws if the same actor tries to claim and recheck), and we show how we'd move that same guarantee into the database layer on the next slide's architecture doc.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being careful here not to invent user counts or prevented incidents. The honest claim is that these three numbers are measurable from day one of a real pilot, which is more than a static map gives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scoped these on purpose: a real pilot, the rule moved into the database, and a cheap way for staff to generate fresh observations. Nothing speculative, nothing we can't start on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here. The ask is concrete: open the app, try to break the rule yourself, and tell us where it would actually fail on your own campus.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3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15721"/>
            <a:ext cx="10566400" cy="467360"/>
          </a:xfrm>
          <a:prstGeom prst="rect">
            <a:avLst/>
          </a:prstGeom>
          <a:noFill/>
          <a:ln/>
        </p:spPr>
        <p:txBody>
          <a:bodyPr wrap="square" lIns="0" tIns="0" rIns="0" bIns="0" rtlCol="0" anchor="t"/>
          <a:lstStyle>
            <a:lvl1pPr algn="l" indent="0" marL="0">
              <a:lnSpc>
                <a:spcPct val="115000"/>
              </a:lnSpc>
              <a:buNone/>
              <a:defRPr lang="en-US" sz="3200" dirty="0">
                <a:solidFill>
                  <a:srgbClr val="3A2A22"/>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87881"/>
            <a:ext cx="10566400" cy="3957319"/>
          </a:xfrm>
          <a:prstGeom prst="rect">
            <a:avLst/>
          </a:prstGeom>
          <a:noFill/>
          <a:ln/>
        </p:spPr>
        <p:txBody>
          <a:bodyPr wrap="square" lIns="0" tIns="0" rIns="0" bIns="0" rtlCol="0" anchor="t"/>
          <a:lstStyle>
            <a:lvl1pPr algn="l" indent="0" marL="0">
              <a:lnSpc>
                <a:spcPct val="140000"/>
              </a:lnSpc>
              <a:buNone/>
              <a:defRPr lang="en-US" sz="1600" dirty="0">
                <a:solidFill>
                  <a:srgbClr val="3A2A22"/>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3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15721"/>
            <a:ext cx="10566400" cy="467360"/>
          </a:xfrm>
          <a:prstGeom prst="rect">
            <a:avLst/>
          </a:prstGeom>
          <a:noFill/>
          <a:ln/>
        </p:spPr>
        <p:txBody>
          <a:bodyPr wrap="square" lIns="0" tIns="0" rIns="0" bIns="0" rtlCol="0" anchor="t"/>
          <a:lstStyle>
            <a:lvl1pPr algn="l" indent="0" marL="0">
              <a:lnSpc>
                <a:spcPct val="115000"/>
              </a:lnSpc>
              <a:buNone/>
              <a:defRPr lang="en-US" sz="3200" dirty="0">
                <a:solidFill>
                  <a:srgbClr val="3A2A22"/>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87881"/>
            <a:ext cx="10566400" cy="3957319"/>
          </a:xfrm>
          <a:prstGeom prst="rect">
            <a:avLst/>
          </a:prstGeom>
          <a:noFill/>
          <a:ln/>
        </p:spPr>
        <p:txBody>
          <a:bodyPr wrap="square" lIns="0" tIns="0" rIns="0" bIns="0" rtlCol="0" anchor="t"/>
          <a:lstStyle>
            <a:lvl1pPr algn="l" indent="0" marL="0">
              <a:lnSpc>
                <a:spcPct val="140000"/>
              </a:lnSpc>
              <a:buNone/>
              <a:defRPr lang="en-US" sz="1600" dirty="0">
                <a:solidFill>
                  <a:srgbClr val="3A2A22"/>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1D16"/>
        </a:solidFill>
      </p:bgPr>
    </p:bg>
    <p:spTree>
      <p:nvGrpSpPr>
        <p:cNvPr id="1" name=""/>
        <p:cNvGrpSpPr/>
        <p:nvPr/>
      </p:nvGrpSpPr>
      <p:grpSpPr>
        <a:xfrm>
          <a:off x="0" y="0"/>
          <a:ext cx="0" cy="0"/>
          <a:chOff x="0" y="0"/>
          <a:chExt cx="0" cy="0"/>
        </a:xfrm>
      </p:grpSpPr>
      <p:sp>
        <p:nvSpPr>
          <p:cNvPr id="2" name="Text 0"/>
          <p:cNvSpPr/>
          <p:nvPr/>
        </p:nvSpPr>
        <p:spPr>
          <a:xfrm>
            <a:off x="812800" y="2091055"/>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E0795A"/>
                </a:solidFill>
                <a:latin typeface="IBM Plex Sans" pitchFamily="34" charset="0"/>
                <a:ea typeface="IBM Plex Sans" pitchFamily="34" charset="-122"/>
                <a:cs typeface="IBM Plex Sans" pitchFamily="34" charset="-120"/>
              </a:rPr>
              <a:t>HSC–VBYLD 2027 · ASSISTIVE TECHNOLOGY &amp; ACCESSIBILITY</a:t>
            </a:r>
            <a:endParaRPr lang="en-US" sz="1400" dirty="0"/>
          </a:p>
        </p:txBody>
      </p:sp>
      <p:sp>
        <p:nvSpPr>
          <p:cNvPr id="3" name="Text 1"/>
          <p:cNvSpPr/>
          <p:nvPr>
            <p:ph type="title"/>
          </p:nvPr>
        </p:nvSpPr>
        <p:spPr>
          <a:xfrm>
            <a:off x="812800" y="2593975"/>
            <a:ext cx="10883392" cy="958850"/>
          </a:xfrm>
          <a:prstGeom prst="rect">
            <a:avLst/>
          </a:prstGeom>
          <a:noFill/>
          <a:ln/>
        </p:spPr>
        <p:txBody>
          <a:bodyPr wrap="square" lIns="0" tIns="0" rIns="0" bIns="0" rtlCol="0" anchor="t">
            <a:normAutofit/>
          </a:bodyPr>
          <a:lstStyle/>
          <a:p>
            <a:pPr algn="l" indent="0" marL="0">
              <a:lnSpc>
                <a:spcPts val="7350"/>
              </a:lnSpc>
              <a:buNone/>
            </a:pPr>
            <a:r>
              <a:rPr lang="en-US" sz="7000" b="1" i="0" dirty="0">
                <a:solidFill>
                  <a:srgbClr val="FBF3EA"/>
                </a:solidFill>
                <a:latin typeface="Source Serif 4" pitchFamily="18" charset="0"/>
                <a:ea typeface="Source Serif 4" pitchFamily="18" charset="-122"/>
                <a:cs typeface="Source Serif 4" pitchFamily="18" charset="-120"/>
              </a:rPr>
              <a:t>AccessRelay</a:t>
            </a:r>
            <a:endParaRPr lang="en-US" sz="7000" dirty="0"/>
          </a:p>
        </p:txBody>
      </p:sp>
      <p:sp>
        <p:nvSpPr>
          <p:cNvPr id="4" name="Text 2"/>
          <p:cNvSpPr/>
          <p:nvPr/>
        </p:nvSpPr>
        <p:spPr>
          <a:xfrm>
            <a:off x="812800" y="3781425"/>
            <a:ext cx="10883392" cy="807720"/>
          </a:xfrm>
          <a:prstGeom prst="rect">
            <a:avLst/>
          </a:prstGeom>
          <a:noFill/>
          <a:ln/>
        </p:spPr>
        <p:txBody>
          <a:bodyPr wrap="square" lIns="0" tIns="0" rIns="0" bIns="0" rtlCol="0" anchor="t">
            <a:normAutofit/>
          </a:bodyPr>
          <a:lstStyle/>
          <a:p>
            <a:pPr algn="l" indent="0" marL="0">
              <a:lnSpc>
                <a:spcPts val="3080"/>
              </a:lnSpc>
              <a:buNone/>
            </a:pPr>
            <a:r>
              <a:rPr lang="en-US" sz="2200" i="1" dirty="0">
                <a:solidFill>
                  <a:srgbClr val="E8CFC2"/>
                </a:solidFill>
                <a:latin typeface="Source Serif 4" pitchFamily="18" charset="0"/>
                <a:ea typeface="Source Serif 4" pitchFamily="18" charset="-122"/>
                <a:cs typeface="Source Serif 4" pitchFamily="18" charset="-120"/>
              </a:rPr>
              <a:t>Nobody visits a building. They visit a service, and one broken handoff fails the whole visit.</a:t>
            </a:r>
            <a:endParaRPr lang="en-US" sz="2200" dirty="0"/>
          </a:p>
        </p:txBody>
      </p:sp>
      <p:sp>
        <p:nvSpPr>
          <p:cNvPr id="5" name="Text 3"/>
          <p:cNvSpPr/>
          <p:nvPr/>
        </p:nvSpPr>
        <p:spPr>
          <a:xfrm>
            <a:off x="812800" y="6238240"/>
            <a:ext cx="463953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B6A8"/>
                </a:solidFill>
                <a:latin typeface="IBM Plex Sans" pitchFamily="34" charset="0"/>
                <a:ea typeface="IBM Plex Sans" pitchFamily="34" charset="-122"/>
                <a:cs typeface="IBM Plex Sans" pitchFamily="34" charset="-120"/>
              </a:rPr>
              <a:t>Synthetic demo data throughout. Not a safety guarantee.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3E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9C3E22"/>
                </a:solidFill>
                <a:latin typeface="IBM Plex Sans" pitchFamily="34" charset="0"/>
                <a:ea typeface="IBM Plex Sans" pitchFamily="34" charset="-122"/>
                <a:cs typeface="IBM Plex Sans" pitchFamily="34" charset="-120"/>
              </a:rPr>
              <a:t>THE PROBLEM</a:t>
            </a:r>
            <a:endParaRPr lang="en-US" sz="1400" dirty="0"/>
          </a:p>
        </p:txBody>
      </p:sp>
      <p:sp>
        <p:nvSpPr>
          <p:cNvPr id="3" name="Text 1"/>
          <p:cNvSpPr/>
          <p:nvPr>
            <p:ph type="title"/>
          </p:nvPr>
        </p:nvSpPr>
        <p:spPr>
          <a:xfrm>
            <a:off x="812800" y="1366520"/>
            <a:ext cx="10883392" cy="10769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3A2A22"/>
                </a:solidFill>
                <a:latin typeface="Source Serif 4" pitchFamily="18" charset="0"/>
                <a:ea typeface="Source Serif 4" pitchFamily="18" charset="-122"/>
                <a:cs typeface="Source Serif 4" pitchFamily="18" charset="-120"/>
              </a:rPr>
              <a:t>A 2022 “accessible” sticker looks identical to a lift that broke this morning.</a:t>
            </a:r>
            <a:endParaRPr lang="en-US" sz="3600" dirty="0"/>
          </a:p>
        </p:txBody>
      </p:sp>
      <p:sp>
        <p:nvSpPr>
          <p:cNvPr id="4" name="Text 2"/>
          <p:cNvSpPr/>
          <p:nvPr/>
        </p:nvSpPr>
        <p:spPr>
          <a:xfrm>
            <a:off x="812800" y="2722880"/>
            <a:ext cx="10883392" cy="9398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5A4A3C"/>
                </a:solidFill>
                <a:latin typeface="IBM Plex Sans" pitchFamily="34" charset="0"/>
                <a:ea typeface="IBM Plex Sans" pitchFamily="34" charset="-122"/>
                <a:cs typeface="IBM Plex Sans" pitchFamily="34" charset="-120"/>
              </a:rPr>
              <a:t>Wheelmap, Sugamya Bharat and Project Sidewalk map places. Nobody visits a place. They visit a service: gate, ramp, corridor, lift, counter. One broken handoff fails the whole visit, and no map today tells you the difference between checked an hour ago and checked two years ago.</a:t>
            </a:r>
            <a:endParaRPr lang="en-US" sz="1600" dirty="0"/>
          </a:p>
        </p:txBody>
      </p:sp>
      <p:sp>
        <p:nvSpPr>
          <p:cNvPr id="5" name="Text 3"/>
          <p:cNvSpPr/>
          <p:nvPr/>
        </p:nvSpPr>
        <p:spPr>
          <a:xfrm>
            <a:off x="812800" y="6238241"/>
            <a:ext cx="794927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265"/>
                </a:solidFill>
                <a:latin typeface="IBM Plex Sans" pitchFamily="34" charset="0"/>
                <a:ea typeface="IBM Plex Sans" pitchFamily="34" charset="-122"/>
                <a:cs typeface="IBM Plex Sans" pitchFamily="34" charset="-120"/>
              </a:rPr>
              <a:t>We’re not claiming absolute novelty. We’re claiming a sharper angle: freshness, not just presence.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0795A"/>
        </a:solidFill>
      </p:bgPr>
    </p:bg>
    <p:spTree>
      <p:nvGrpSpPr>
        <p:cNvPr id="1" name=""/>
        <p:cNvGrpSpPr/>
        <p:nvPr/>
      </p:nvGrpSpPr>
      <p:grpSpPr>
        <a:xfrm>
          <a:off x="0" y="0"/>
          <a:ext cx="0" cy="0"/>
          <a:chOff x="0" y="0"/>
          <a:chExt cx="0" cy="0"/>
        </a:xfrm>
      </p:grpSpPr>
      <p:sp>
        <p:nvSpPr>
          <p:cNvPr id="2" name="Text 0"/>
          <p:cNvSpPr/>
          <p:nvPr/>
        </p:nvSpPr>
        <p:spPr>
          <a:xfrm>
            <a:off x="812800" y="2440941"/>
            <a:ext cx="1203198" cy="27432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2A1310"/>
                </a:solidFill>
                <a:latin typeface="IBM Plex Sans" pitchFamily="34" charset="0"/>
                <a:ea typeface="IBM Plex Sans" pitchFamily="34" charset="-122"/>
                <a:cs typeface="IBM Plex Sans" pitchFamily="34" charset="-120"/>
              </a:rPr>
              <a:t>LIVE NOW</a:t>
            </a:r>
            <a:endParaRPr lang="en-US" sz="1400" dirty="0"/>
          </a:p>
        </p:txBody>
      </p:sp>
      <p:sp>
        <p:nvSpPr>
          <p:cNvPr id="3" name="Text 1"/>
          <p:cNvSpPr/>
          <p:nvPr>
            <p:ph type="title"/>
          </p:nvPr>
        </p:nvSpPr>
        <p:spPr>
          <a:xfrm>
            <a:off x="812800" y="2842261"/>
            <a:ext cx="7650956" cy="878840"/>
          </a:xfrm>
          <a:prstGeom prst="rect">
            <a:avLst/>
          </a:prstGeom>
          <a:noFill/>
          <a:ln/>
        </p:spPr>
        <p:txBody>
          <a:bodyPr wrap="square" lIns="0" tIns="0" rIns="0" bIns="0" rtlCol="0" anchor="t">
            <a:normAutofit/>
          </a:bodyPr>
          <a:lstStyle/>
          <a:p>
            <a:pPr algn="l" indent="0" marL="0">
              <a:lnSpc>
                <a:spcPts val="6720"/>
              </a:lnSpc>
              <a:buNone/>
            </a:pPr>
            <a:r>
              <a:rPr lang="en-US" sz="6400" b="1" i="0" dirty="0">
                <a:solidFill>
                  <a:srgbClr val="2A1310"/>
                </a:solidFill>
                <a:latin typeface="Source Serif 4" pitchFamily="18" charset="0"/>
                <a:ea typeface="Source Serif 4" pitchFamily="18" charset="-122"/>
                <a:cs typeface="Source Serif 4" pitchFamily="18" charset="-120"/>
              </a:rPr>
              <a:t>Watch the relay.</a:t>
            </a:r>
            <a:endParaRPr lang="en-US" sz="6400" dirty="0"/>
          </a:p>
        </p:txBody>
      </p:sp>
      <p:sp>
        <p:nvSpPr>
          <p:cNvPr id="4" name="Text 2"/>
          <p:cNvSpPr/>
          <p:nvPr/>
        </p:nvSpPr>
        <p:spPr>
          <a:xfrm>
            <a:off x="812800" y="3848100"/>
            <a:ext cx="1088339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A1D10"/>
                </a:solidFill>
                <a:latin typeface="IBM Plex Sans" pitchFamily="34" charset="0"/>
                <a:ea typeface="IBM Plex Sans" pitchFamily="34" charset="-122"/>
                <a:cs typeface="IBM Plex Sans" pitchFamily="34" charset="-120"/>
              </a:rPr>
              <a:t>Preview-time slider, shared-gate priority, the self-recheck rejection, an independent recheck, the overdue escalation, the audit trail export.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3E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9C3E22"/>
                </a:solidFill>
                <a:latin typeface="IBM Plex Sans" pitchFamily="34" charset="0"/>
                <a:ea typeface="IBM Plex Sans" pitchFamily="34" charset="-122"/>
                <a:cs typeface="IBM Plex Sans" pitchFamily="34" charset="-120"/>
              </a:rPr>
              <a:t>HOW IT WORKS</a:t>
            </a:r>
            <a:endParaRPr lang="en-US" sz="1400" dirty="0"/>
          </a:p>
        </p:txBody>
      </p:sp>
      <p:sp>
        <p:nvSpPr>
          <p:cNvPr id="3" name="Text 1"/>
          <p:cNvSpPr/>
          <p:nvPr>
            <p:ph type="title"/>
          </p:nvPr>
        </p:nvSpPr>
        <p:spPr>
          <a:xfrm>
            <a:off x="812800" y="1315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3A2A22"/>
                </a:solidFill>
                <a:latin typeface="Source Serif 4" pitchFamily="18" charset="0"/>
                <a:ea typeface="Source Serif 4" pitchFamily="18" charset="-122"/>
                <a:cs typeface="Source Serif 4" pitchFamily="18" charset="-120"/>
              </a:rPr>
              <a:t>The Relay Rule: no actor closes their own leg.</a:t>
            </a:r>
            <a:endParaRPr lang="en-US" sz="3000" dirty="0"/>
          </a:p>
        </p:txBody>
      </p:sp>
      <p:sp>
        <p:nvSpPr>
          <p:cNvPr id="4" name="Shape 2"/>
          <p:cNvSpPr/>
          <p:nvPr/>
        </p:nvSpPr>
        <p:spPr>
          <a:xfrm>
            <a:off x="815975" y="2011045"/>
            <a:ext cx="1466850" cy="1014730"/>
          </a:xfrm>
          <a:prstGeom prst="roundRect">
            <a:avLst>
              <a:gd name="adj" fmla="val 9700"/>
            </a:avLst>
          </a:prstGeom>
          <a:solidFill>
            <a:srgbClr val="FFFFFE"/>
          </a:solidFill>
          <a:ln w="6350">
            <a:solidFill>
              <a:srgbClr val="EFE0D1"/>
            </a:solidFill>
            <a:prstDash val="solid"/>
          </a:ln>
        </p:spPr>
      </p:sp>
      <p:sp>
        <p:nvSpPr>
          <p:cNvPr id="5" name="Text 3"/>
          <p:cNvSpPr/>
          <p:nvPr/>
        </p:nvSpPr>
        <p:spPr>
          <a:xfrm>
            <a:off x="995680" y="2190750"/>
            <a:ext cx="115824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9C3E22"/>
                </a:solidFill>
                <a:latin typeface="IBM Plex Sans" pitchFamily="34" charset="0"/>
                <a:ea typeface="IBM Plex Sans" pitchFamily="34" charset="-122"/>
                <a:cs typeface="IBM Plex Sans" pitchFamily="34" charset="-120"/>
              </a:rPr>
              <a:t>Report</a:t>
            </a:r>
            <a:endParaRPr lang="en-US" sz="1400" dirty="0"/>
          </a:p>
        </p:txBody>
      </p:sp>
      <p:sp>
        <p:nvSpPr>
          <p:cNvPr id="6" name="Text 4"/>
          <p:cNvSpPr/>
          <p:nvPr/>
        </p:nvSpPr>
        <p:spPr>
          <a:xfrm>
            <a:off x="995680" y="2454911"/>
            <a:ext cx="1158240" cy="4165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5A4A3C"/>
                </a:solidFill>
                <a:latin typeface="IBM Plex Sans" pitchFamily="34" charset="0"/>
                <a:ea typeface="IBM Plex Sans" pitchFamily="34" charset="-122"/>
                <a:cs typeface="IBM Plex Sans" pitchFamily="34" charset="-120"/>
              </a:rPr>
              <a:t>Visitor flags a barrier</a:t>
            </a:r>
            <a:endParaRPr lang="en-US" sz="1100" dirty="0"/>
          </a:p>
        </p:txBody>
      </p:sp>
      <p:pic>
        <p:nvPicPr>
          <p:cNvPr id="7" name="Image 0" descr="arrow-right">    </p:cNvPr>
          <p:cNvPicPr>
            <a:picLocks noChangeAspect="1"/>
          </p:cNvPicPr>
          <p:nvPr/>
        </p:nvPicPr>
        <p:blipFill>
          <a:blip r:embed="rId1"/>
          <a:srcRect l="0" r="0" t="0" b="0"/>
          <a:stretch/>
        </p:blipFill>
        <p:spPr>
          <a:xfrm>
            <a:off x="2387600" y="2429511"/>
            <a:ext cx="304800" cy="177800"/>
          </a:xfrm>
          <a:prstGeom prst="rect">
            <a:avLst/>
          </a:prstGeom>
        </p:spPr>
      </p:pic>
      <p:sp>
        <p:nvSpPr>
          <p:cNvPr id="8" name="Shape 5"/>
          <p:cNvSpPr/>
          <p:nvPr/>
        </p:nvSpPr>
        <p:spPr>
          <a:xfrm>
            <a:off x="2797175" y="2011045"/>
            <a:ext cx="1466850" cy="1014730"/>
          </a:xfrm>
          <a:prstGeom prst="roundRect">
            <a:avLst>
              <a:gd name="adj" fmla="val 9700"/>
            </a:avLst>
          </a:prstGeom>
          <a:solidFill>
            <a:srgbClr val="FFFFFE"/>
          </a:solidFill>
          <a:ln w="6350">
            <a:solidFill>
              <a:srgbClr val="EFE0D1"/>
            </a:solidFill>
            <a:prstDash val="solid"/>
          </a:ln>
        </p:spPr>
      </p:sp>
      <p:sp>
        <p:nvSpPr>
          <p:cNvPr id="9" name="Text 6"/>
          <p:cNvSpPr/>
          <p:nvPr/>
        </p:nvSpPr>
        <p:spPr>
          <a:xfrm>
            <a:off x="2976880" y="2190750"/>
            <a:ext cx="115824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9C3E22"/>
                </a:solidFill>
                <a:latin typeface="IBM Plex Sans" pitchFamily="34" charset="0"/>
                <a:ea typeface="IBM Plex Sans" pitchFamily="34" charset="-122"/>
                <a:cs typeface="IBM Plex Sans" pitchFamily="34" charset="-120"/>
              </a:rPr>
              <a:t>Blocked</a:t>
            </a:r>
            <a:endParaRPr lang="en-US" sz="1400" dirty="0"/>
          </a:p>
        </p:txBody>
      </p:sp>
      <p:sp>
        <p:nvSpPr>
          <p:cNvPr id="10" name="Text 7"/>
          <p:cNvSpPr/>
          <p:nvPr/>
        </p:nvSpPr>
        <p:spPr>
          <a:xfrm>
            <a:off x="2976880" y="2454911"/>
            <a:ext cx="1158240" cy="4165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5A4A3C"/>
                </a:solidFill>
                <a:latin typeface="IBM Plex Sans" pitchFamily="34" charset="0"/>
                <a:ea typeface="IBM Plex Sans" pitchFamily="34" charset="-122"/>
                <a:cs typeface="IBM Plex Sans" pitchFamily="34" charset="-120"/>
              </a:rPr>
              <a:t>Stays open, no expiry</a:t>
            </a:r>
            <a:endParaRPr lang="en-US" sz="1100" dirty="0"/>
          </a:p>
        </p:txBody>
      </p:sp>
      <p:pic>
        <p:nvPicPr>
          <p:cNvPr id="11" name="Image 1" descr="arrow-right">    </p:cNvPr>
          <p:cNvPicPr>
            <a:picLocks noChangeAspect="1"/>
          </p:cNvPicPr>
          <p:nvPr/>
        </p:nvPicPr>
        <p:blipFill>
          <a:blip r:embed="rId2"/>
          <a:srcRect l="0" r="0" t="0" b="0"/>
          <a:stretch/>
        </p:blipFill>
        <p:spPr>
          <a:xfrm>
            <a:off x="4368800" y="2429511"/>
            <a:ext cx="304800" cy="177800"/>
          </a:xfrm>
          <a:prstGeom prst="rect">
            <a:avLst/>
          </a:prstGeom>
        </p:spPr>
      </p:pic>
      <p:sp>
        <p:nvSpPr>
          <p:cNvPr id="12" name="Shape 8"/>
          <p:cNvSpPr/>
          <p:nvPr/>
        </p:nvSpPr>
        <p:spPr>
          <a:xfrm>
            <a:off x="4778375" y="2011045"/>
            <a:ext cx="1466850" cy="1014730"/>
          </a:xfrm>
          <a:prstGeom prst="roundRect">
            <a:avLst>
              <a:gd name="adj" fmla="val 9700"/>
            </a:avLst>
          </a:prstGeom>
          <a:solidFill>
            <a:srgbClr val="FFFFFE"/>
          </a:solidFill>
          <a:ln w="6350">
            <a:solidFill>
              <a:srgbClr val="EFE0D1"/>
            </a:solidFill>
            <a:prstDash val="solid"/>
          </a:ln>
        </p:spPr>
      </p:sp>
      <p:sp>
        <p:nvSpPr>
          <p:cNvPr id="13" name="Text 9"/>
          <p:cNvSpPr/>
          <p:nvPr/>
        </p:nvSpPr>
        <p:spPr>
          <a:xfrm>
            <a:off x="4958080" y="2190750"/>
            <a:ext cx="115824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9C3E22"/>
                </a:solidFill>
                <a:latin typeface="IBM Plex Sans" pitchFamily="34" charset="0"/>
                <a:ea typeface="IBM Plex Sans" pitchFamily="34" charset="-122"/>
                <a:cs typeface="IBM Plex Sans" pitchFamily="34" charset="-120"/>
              </a:rPr>
              <a:t>Claim</a:t>
            </a:r>
            <a:endParaRPr lang="en-US" sz="1400" dirty="0"/>
          </a:p>
        </p:txBody>
      </p:sp>
      <p:sp>
        <p:nvSpPr>
          <p:cNvPr id="14" name="Text 10"/>
          <p:cNvSpPr/>
          <p:nvPr/>
        </p:nvSpPr>
        <p:spPr>
          <a:xfrm>
            <a:off x="4958080" y="2454911"/>
            <a:ext cx="1158240" cy="4165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5A4A3C"/>
                </a:solidFill>
                <a:latin typeface="IBM Plex Sans" pitchFamily="34" charset="0"/>
                <a:ea typeface="IBM Plex Sans" pitchFamily="34" charset="-122"/>
                <a:cs typeface="IBM Plex Sans" pitchFamily="34" charset="-120"/>
              </a:rPr>
              <a:t>Staff claims the fix</a:t>
            </a:r>
            <a:endParaRPr lang="en-US" sz="1100" dirty="0"/>
          </a:p>
        </p:txBody>
      </p:sp>
      <p:pic>
        <p:nvPicPr>
          <p:cNvPr id="15" name="Image 2" descr="arrow-right">    </p:cNvPr>
          <p:cNvPicPr>
            <a:picLocks noChangeAspect="1"/>
          </p:cNvPicPr>
          <p:nvPr/>
        </p:nvPicPr>
        <p:blipFill>
          <a:blip r:embed="rId3"/>
          <a:srcRect l="0" r="0" t="0" b="0"/>
          <a:stretch/>
        </p:blipFill>
        <p:spPr>
          <a:xfrm>
            <a:off x="6350000" y="2429511"/>
            <a:ext cx="304800" cy="177800"/>
          </a:xfrm>
          <a:prstGeom prst="rect">
            <a:avLst/>
          </a:prstGeom>
        </p:spPr>
      </p:pic>
      <p:sp>
        <p:nvSpPr>
          <p:cNvPr id="16" name="Shape 11"/>
          <p:cNvSpPr/>
          <p:nvPr/>
        </p:nvSpPr>
        <p:spPr>
          <a:xfrm>
            <a:off x="6759575" y="2108836"/>
            <a:ext cx="1466850" cy="819150"/>
          </a:xfrm>
          <a:prstGeom prst="roundRect">
            <a:avLst>
              <a:gd name="adj" fmla="val 12016"/>
            </a:avLst>
          </a:prstGeom>
          <a:solidFill>
            <a:srgbClr val="FFFFFE"/>
          </a:solidFill>
          <a:ln w="6350">
            <a:solidFill>
              <a:srgbClr val="EFE0D1"/>
            </a:solidFill>
            <a:prstDash val="solid"/>
          </a:ln>
        </p:spPr>
      </p:sp>
      <p:sp>
        <p:nvSpPr>
          <p:cNvPr id="17" name="Text 12"/>
          <p:cNvSpPr/>
          <p:nvPr/>
        </p:nvSpPr>
        <p:spPr>
          <a:xfrm>
            <a:off x="6939280" y="2288541"/>
            <a:ext cx="115824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9C3E22"/>
                </a:solidFill>
                <a:latin typeface="IBM Plex Sans" pitchFamily="34" charset="0"/>
                <a:ea typeface="IBM Plex Sans" pitchFamily="34" charset="-122"/>
                <a:cs typeface="IBM Plex Sans" pitchFamily="34" charset="-120"/>
              </a:rPr>
              <a:t>Pending</a:t>
            </a:r>
            <a:endParaRPr lang="en-US" sz="1400" dirty="0"/>
          </a:p>
        </p:txBody>
      </p:sp>
      <p:sp>
        <p:nvSpPr>
          <p:cNvPr id="18" name="Text 13"/>
          <p:cNvSpPr/>
          <p:nvPr/>
        </p:nvSpPr>
        <p:spPr>
          <a:xfrm>
            <a:off x="6939280" y="2552700"/>
            <a:ext cx="1158240" cy="22098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5A4A3C"/>
                </a:solidFill>
                <a:latin typeface="IBM Plex Sans" pitchFamily="34" charset="0"/>
                <a:ea typeface="IBM Plex Sans" pitchFamily="34" charset="-122"/>
                <a:cs typeface="IBM Plex Sans" pitchFamily="34" charset="-120"/>
              </a:rPr>
              <a:t>Not closed yet</a:t>
            </a:r>
            <a:endParaRPr lang="en-US" sz="1100" dirty="0"/>
          </a:p>
        </p:txBody>
      </p:sp>
      <p:pic>
        <p:nvPicPr>
          <p:cNvPr id="19" name="Image 3" descr="arrow-right">    </p:cNvPr>
          <p:cNvPicPr>
            <a:picLocks noChangeAspect="1"/>
          </p:cNvPicPr>
          <p:nvPr/>
        </p:nvPicPr>
        <p:blipFill>
          <a:blip r:embed="rId4"/>
          <a:srcRect l="0" r="0" t="0" b="0"/>
          <a:stretch/>
        </p:blipFill>
        <p:spPr>
          <a:xfrm>
            <a:off x="8331200" y="2429511"/>
            <a:ext cx="304800" cy="177800"/>
          </a:xfrm>
          <a:prstGeom prst="rect">
            <a:avLst/>
          </a:prstGeom>
        </p:spPr>
      </p:pic>
      <p:sp>
        <p:nvSpPr>
          <p:cNvPr id="20" name="Shape 14"/>
          <p:cNvSpPr/>
          <p:nvPr/>
        </p:nvSpPr>
        <p:spPr>
          <a:xfrm>
            <a:off x="8740775" y="2011045"/>
            <a:ext cx="1466850" cy="1014730"/>
          </a:xfrm>
          <a:prstGeom prst="roundRect">
            <a:avLst>
              <a:gd name="adj" fmla="val 9700"/>
            </a:avLst>
          </a:prstGeom>
          <a:solidFill>
            <a:srgbClr val="FFFFFE"/>
          </a:solidFill>
          <a:ln w="6350">
            <a:solidFill>
              <a:srgbClr val="EFE0D1"/>
            </a:solidFill>
            <a:prstDash val="solid"/>
          </a:ln>
        </p:spPr>
      </p:sp>
      <p:sp>
        <p:nvSpPr>
          <p:cNvPr id="21" name="Text 15"/>
          <p:cNvSpPr/>
          <p:nvPr/>
        </p:nvSpPr>
        <p:spPr>
          <a:xfrm>
            <a:off x="8920480" y="2190750"/>
            <a:ext cx="115824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9C3E22"/>
                </a:solidFill>
                <a:latin typeface="IBM Plex Sans" pitchFamily="34" charset="0"/>
                <a:ea typeface="IBM Plex Sans" pitchFamily="34" charset="-122"/>
                <a:cs typeface="IBM Plex Sans" pitchFamily="34" charset="-120"/>
              </a:rPr>
              <a:t>Recheck</a:t>
            </a:r>
            <a:endParaRPr lang="en-US" sz="1400" dirty="0"/>
          </a:p>
        </p:txBody>
      </p:sp>
      <p:sp>
        <p:nvSpPr>
          <p:cNvPr id="22" name="Text 16"/>
          <p:cNvSpPr/>
          <p:nvPr/>
        </p:nvSpPr>
        <p:spPr>
          <a:xfrm>
            <a:off x="8920480" y="2454911"/>
            <a:ext cx="1158240" cy="41656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5A4A3C"/>
                </a:solidFill>
                <a:latin typeface="IBM Plex Sans" pitchFamily="34" charset="0"/>
                <a:ea typeface="IBM Plex Sans" pitchFamily="34" charset="-122"/>
                <a:cs typeface="IBM Plex Sans" pitchFamily="34" charset="-120"/>
              </a:rPr>
              <a:t>A different reviewer</a:t>
            </a:r>
            <a:endParaRPr lang="en-US" sz="1100" dirty="0"/>
          </a:p>
        </p:txBody>
      </p:sp>
      <p:sp>
        <p:nvSpPr>
          <p:cNvPr id="23" name="Text 17"/>
          <p:cNvSpPr/>
          <p:nvPr/>
        </p:nvSpPr>
        <p:spPr>
          <a:xfrm>
            <a:off x="812800" y="3282950"/>
            <a:ext cx="10883392" cy="59690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3A2A22"/>
                </a:solidFill>
                <a:latin typeface="IBM Plex Sans" pitchFamily="34" charset="0"/>
                <a:ea typeface="IBM Plex Sans" pitchFamily="34" charset="-122"/>
                <a:cs typeface="IBM Plex Sans" pitchFamily="34" charset="-120"/>
              </a:rPr>
              <a:t>The claiming actor can never verify their own claim.</a:t>
            </a:r>
            <a:r>
              <a:rPr lang="en-US" sz="1500" dirty="0">
                <a:solidFill>
                  <a:srgbClr val="3A2A22"/>
                </a:solidFill>
                <a:latin typeface="IBM Plex Sans" pitchFamily="34" charset="0"/>
                <a:ea typeface="IBM Plex Sans" pitchFamily="34" charset="-122"/>
                <a:cs typeface="IBM Plex Sans" pitchFamily="34" charset="-120"/>
              </a:rPr>
              <a:t> A passed recheck clears the segment and starts a fresh countdown to stale. A failed recheck reopens it as blocked. Nobody can let a claim sit forever and have it count as fixed.</a:t>
            </a:r>
            <a:endParaRPr lang="en-US" sz="1500" dirty="0"/>
          </a:p>
        </p:txBody>
      </p:sp>
      <p:sp>
        <p:nvSpPr>
          <p:cNvPr id="24" name="Text 18"/>
          <p:cNvSpPr/>
          <p:nvPr/>
        </p:nvSpPr>
        <p:spPr>
          <a:xfrm>
            <a:off x="812800" y="6238239"/>
            <a:ext cx="500910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265"/>
                </a:solidFill>
                <a:latin typeface="IBM Plex Sans" pitchFamily="34" charset="0"/>
                <a:ea typeface="IBM Plex Sans" pitchFamily="34" charset="-122"/>
                <a:cs typeface="IBM Plex Sans" pitchFamily="34" charset="-120"/>
              </a:rPr>
              <a:t>domain.js: pure functions, zero DOM, tested, not just demoed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E4D7"/>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9C3E22"/>
                </a:solidFill>
                <a:latin typeface="IBM Plex Sans" pitchFamily="34" charset="0"/>
                <a:ea typeface="IBM Plex Sans" pitchFamily="34" charset="-122"/>
                <a:cs typeface="IBM Plex Sans" pitchFamily="34" charset="-120"/>
              </a:rPr>
              <a:t>IMPACT, HONESTLY MEASURED</a:t>
            </a:r>
            <a:endParaRPr lang="en-US" sz="1400" dirty="0"/>
          </a:p>
        </p:txBody>
      </p:sp>
      <p:sp>
        <p:nvSpPr>
          <p:cNvPr id="3" name="Text 1"/>
          <p:cNvSpPr/>
          <p:nvPr>
            <p:ph type="title"/>
          </p:nvPr>
        </p:nvSpPr>
        <p:spPr>
          <a:xfrm>
            <a:off x="812800" y="1315721"/>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3A2A22"/>
                </a:solidFill>
                <a:latin typeface="Source Serif 4" pitchFamily="18" charset="0"/>
                <a:ea typeface="Source Serif 4" pitchFamily="18" charset="-122"/>
                <a:cs typeface="Source Serif 4" pitchFamily="18" charset="-120"/>
              </a:rPr>
              <a:t>Three honest signals, not a green checkmark.</a:t>
            </a:r>
            <a:endParaRPr lang="en-US" sz="3000" dirty="0"/>
          </a:p>
        </p:txBody>
      </p:sp>
      <p:sp>
        <p:nvSpPr>
          <p:cNvPr id="4" name="Shape 2"/>
          <p:cNvSpPr/>
          <p:nvPr/>
        </p:nvSpPr>
        <p:spPr>
          <a:xfrm>
            <a:off x="815975" y="2011046"/>
            <a:ext cx="3380264" cy="1192530"/>
          </a:xfrm>
          <a:prstGeom prst="roundRect">
            <a:avLst>
              <a:gd name="adj" fmla="val 8253"/>
            </a:avLst>
          </a:prstGeom>
          <a:solidFill>
            <a:srgbClr val="FFFFFE"/>
          </a:solidFill>
          <a:ln w="6350">
            <a:solidFill>
              <a:srgbClr val="E7D3C0"/>
            </a:solidFill>
            <a:prstDash val="solid"/>
          </a:ln>
        </p:spPr>
      </p:sp>
      <p:sp>
        <p:nvSpPr>
          <p:cNvPr id="5" name="Text 3"/>
          <p:cNvSpPr/>
          <p:nvPr/>
        </p:nvSpPr>
        <p:spPr>
          <a:xfrm>
            <a:off x="1046480" y="2241550"/>
            <a:ext cx="300683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9C3E22"/>
                </a:solidFill>
                <a:latin typeface="IBM Plex Sans" pitchFamily="34" charset="0"/>
                <a:ea typeface="IBM Plex Sans" pitchFamily="34" charset="-122"/>
                <a:cs typeface="IBM Plex Sans" pitchFamily="34" charset="-120"/>
              </a:rPr>
              <a:t>Currently trustworthy</a:t>
            </a:r>
            <a:endParaRPr lang="en-US" sz="1500" dirty="0"/>
          </a:p>
        </p:txBody>
      </p:sp>
      <p:sp>
        <p:nvSpPr>
          <p:cNvPr id="6" name="Text 4"/>
          <p:cNvSpPr/>
          <p:nvPr/>
        </p:nvSpPr>
        <p:spPr>
          <a:xfrm>
            <a:off x="1046480" y="2546350"/>
            <a:ext cx="300683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4A3C"/>
                </a:solidFill>
                <a:latin typeface="IBM Plex Sans" pitchFamily="34" charset="0"/>
                <a:ea typeface="IBM Plex Sans" pitchFamily="34" charset="-122"/>
                <a:cs typeface="IBM Plex Sans" pitchFamily="34" charset="-120"/>
              </a:rPr>
              <a:t>Journeys with every segment clear and inside its freshness window</a:t>
            </a:r>
            <a:endParaRPr lang="en-US" sz="1200" dirty="0"/>
          </a:p>
        </p:txBody>
      </p:sp>
      <p:sp>
        <p:nvSpPr>
          <p:cNvPr id="7" name="Shape 5"/>
          <p:cNvSpPr/>
          <p:nvPr/>
        </p:nvSpPr>
        <p:spPr>
          <a:xfrm>
            <a:off x="4405789" y="2011046"/>
            <a:ext cx="3380343" cy="1192530"/>
          </a:xfrm>
          <a:prstGeom prst="roundRect">
            <a:avLst>
              <a:gd name="adj" fmla="val 8253"/>
            </a:avLst>
          </a:prstGeom>
          <a:solidFill>
            <a:srgbClr val="FFFFFE"/>
          </a:solidFill>
          <a:ln w="6350">
            <a:solidFill>
              <a:srgbClr val="E7D3C0"/>
            </a:solidFill>
            <a:prstDash val="solid"/>
          </a:ln>
        </p:spPr>
      </p:sp>
      <p:sp>
        <p:nvSpPr>
          <p:cNvPr id="8" name="Text 6"/>
          <p:cNvSpPr/>
          <p:nvPr/>
        </p:nvSpPr>
        <p:spPr>
          <a:xfrm>
            <a:off x="4636294" y="2241550"/>
            <a:ext cx="300691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9C3E22"/>
                </a:solidFill>
                <a:latin typeface="IBM Plex Sans" pitchFamily="34" charset="0"/>
                <a:ea typeface="IBM Plex Sans" pitchFamily="34" charset="-122"/>
                <a:cs typeface="IBM Plex Sans" pitchFamily="34" charset="-120"/>
              </a:rPr>
              <a:t>Stale or unknown</a:t>
            </a:r>
            <a:endParaRPr lang="en-US" sz="1500" dirty="0"/>
          </a:p>
        </p:txBody>
      </p:sp>
      <p:sp>
        <p:nvSpPr>
          <p:cNvPr id="9" name="Text 7"/>
          <p:cNvSpPr/>
          <p:nvPr/>
        </p:nvSpPr>
        <p:spPr>
          <a:xfrm>
            <a:off x="4636294" y="2546350"/>
            <a:ext cx="300691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4A3C"/>
                </a:solidFill>
                <a:latin typeface="IBM Plex Sans" pitchFamily="34" charset="0"/>
                <a:ea typeface="IBM Plex Sans" pitchFamily="34" charset="-122"/>
                <a:cs typeface="IBM Plex Sans" pitchFamily="34" charset="-120"/>
              </a:rPr>
              <a:t>What nobody has checked recently enough to trust</a:t>
            </a:r>
            <a:endParaRPr lang="en-US" sz="1200" dirty="0"/>
          </a:p>
        </p:txBody>
      </p:sp>
      <p:sp>
        <p:nvSpPr>
          <p:cNvPr id="10" name="Shape 8"/>
          <p:cNvSpPr/>
          <p:nvPr/>
        </p:nvSpPr>
        <p:spPr>
          <a:xfrm>
            <a:off x="7995682" y="2011046"/>
            <a:ext cx="3380343" cy="1192530"/>
          </a:xfrm>
          <a:prstGeom prst="roundRect">
            <a:avLst>
              <a:gd name="adj" fmla="val 8253"/>
            </a:avLst>
          </a:prstGeom>
          <a:solidFill>
            <a:srgbClr val="FFFFFE"/>
          </a:solidFill>
          <a:ln w="6350">
            <a:solidFill>
              <a:srgbClr val="E7D3C0"/>
            </a:solidFill>
            <a:prstDash val="solid"/>
          </a:ln>
        </p:spPr>
      </p:sp>
      <p:sp>
        <p:nvSpPr>
          <p:cNvPr id="11" name="Text 9"/>
          <p:cNvSpPr/>
          <p:nvPr/>
        </p:nvSpPr>
        <p:spPr>
          <a:xfrm>
            <a:off x="8226187" y="2241550"/>
            <a:ext cx="300691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9C3E22"/>
                </a:solidFill>
                <a:latin typeface="IBM Plex Sans" pitchFamily="34" charset="0"/>
                <a:ea typeface="IBM Plex Sans" pitchFamily="34" charset="-122"/>
                <a:cs typeface="IBM Plex Sans" pitchFamily="34" charset="-120"/>
              </a:rPr>
              <a:t>Independently verified</a:t>
            </a:r>
            <a:endParaRPr lang="en-US" sz="1500" dirty="0"/>
          </a:p>
        </p:txBody>
      </p:sp>
      <p:sp>
        <p:nvSpPr>
          <p:cNvPr id="12" name="Text 10"/>
          <p:cNvSpPr/>
          <p:nvPr/>
        </p:nvSpPr>
        <p:spPr>
          <a:xfrm>
            <a:off x="8226187" y="2546350"/>
            <a:ext cx="300691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4A3C"/>
                </a:solidFill>
                <a:latin typeface="IBM Plex Sans" pitchFamily="34" charset="0"/>
                <a:ea typeface="IBM Plex Sans" pitchFamily="34" charset="-122"/>
                <a:cs typeface="IBM Plex Sans" pitchFamily="34" charset="-120"/>
              </a:rPr>
              <a:t>Repairs a different reviewer actually rechecked, not just claimed</a:t>
            </a:r>
            <a:endParaRPr lang="en-US" sz="1200" dirty="0"/>
          </a:p>
        </p:txBody>
      </p:sp>
      <p:sp>
        <p:nvSpPr>
          <p:cNvPr id="13" name="Text 11"/>
          <p:cNvSpPr/>
          <p:nvPr/>
        </p:nvSpPr>
        <p:spPr>
          <a:xfrm>
            <a:off x="812800" y="3460750"/>
            <a:ext cx="10883392"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3A2A22"/>
                </a:solidFill>
                <a:latin typeface="IBM Plex Sans" pitchFamily="34" charset="0"/>
                <a:ea typeface="IBM Plex Sans" pitchFamily="34" charset="-122"/>
                <a:cs typeface="IBM Plex Sans" pitchFamily="34" charset="-120"/>
              </a:rPr>
              <a:t>We haven’t run a beneficiary pilot yet. These are the numbers a real campus could track from day one, not a certification we’re inventing today.</a:t>
            </a:r>
            <a:endParaRPr lang="en-US" sz="1500" dirty="0"/>
          </a:p>
        </p:txBody>
      </p:sp>
      <p:sp>
        <p:nvSpPr>
          <p:cNvPr id="14" name="Text 12"/>
          <p:cNvSpPr/>
          <p:nvPr/>
        </p:nvSpPr>
        <p:spPr>
          <a:xfrm>
            <a:off x="812800" y="6238239"/>
            <a:ext cx="44123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265"/>
                </a:solidFill>
                <a:latin typeface="IBM Plex Sans" pitchFamily="34" charset="0"/>
                <a:ea typeface="IBM Plex Sans" pitchFamily="34" charset="-122"/>
                <a:cs typeface="IBM Plex Sans" pitchFamily="34" charset="-120"/>
              </a:rPr>
              <a:t>Aligned with Sugamya Bharat and UN SDGs 10 and 11</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3E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9C3E22"/>
                </a:solidFill>
                <a:latin typeface="IBM Plex Sans" pitchFamily="34" charset="0"/>
                <a:ea typeface="IBM Plex Sans" pitchFamily="34" charset="-122"/>
                <a:cs typeface="IBM Plex Sans" pitchFamily="34" charset="-120"/>
              </a:rPr>
              <a:t>WHAT’S NEXT</a:t>
            </a:r>
            <a:endParaRPr lang="en-US" sz="1400" dirty="0"/>
          </a:p>
        </p:txBody>
      </p:sp>
      <p:sp>
        <p:nvSpPr>
          <p:cNvPr id="3" name="Text 1"/>
          <p:cNvSpPr/>
          <p:nvPr>
            <p:ph type="title"/>
          </p:nvPr>
        </p:nvSpPr>
        <p:spPr>
          <a:xfrm>
            <a:off x="812800" y="131572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3A2A22"/>
                </a:solidFill>
                <a:latin typeface="Source Serif 4" pitchFamily="18" charset="0"/>
                <a:ea typeface="Source Serif 4" pitchFamily="18" charset="-122"/>
                <a:cs typeface="Source Serif 4" pitchFamily="18" charset="-120"/>
              </a:rPr>
              <a:t>From prototype to pilot.</a:t>
            </a:r>
            <a:endParaRPr lang="en-US" sz="3200" dirty="0"/>
          </a:p>
        </p:txBody>
      </p:sp>
      <p:sp>
        <p:nvSpPr>
          <p:cNvPr id="4" name="Shape 2"/>
          <p:cNvSpPr/>
          <p:nvPr/>
        </p:nvSpPr>
        <p:spPr>
          <a:xfrm>
            <a:off x="815975" y="2040257"/>
            <a:ext cx="3380264" cy="1482090"/>
          </a:xfrm>
          <a:prstGeom prst="roundRect">
            <a:avLst>
              <a:gd name="adj" fmla="val 6641"/>
            </a:avLst>
          </a:prstGeom>
          <a:solidFill>
            <a:srgbClr val="FFFFFE"/>
          </a:solidFill>
          <a:ln w="6350">
            <a:solidFill>
              <a:srgbClr val="EFE0D1"/>
            </a:solidFill>
            <a:prstDash val="solid"/>
          </a:ln>
        </p:spPr>
      </p:sp>
      <p:pic>
        <p:nvPicPr>
          <p:cNvPr id="5" name="Image 0" descr="Users">    </p:cNvPr>
          <p:cNvPicPr>
            <a:picLocks noChangeAspect="1"/>
          </p:cNvPicPr>
          <p:nvPr/>
        </p:nvPicPr>
        <p:blipFill>
          <a:blip r:embed="rId1"/>
          <a:srcRect l="0" r="0" t="0" b="0"/>
          <a:stretch/>
        </p:blipFill>
        <p:spPr>
          <a:xfrm>
            <a:off x="1046480" y="2270761"/>
            <a:ext cx="228600" cy="228600"/>
          </a:xfrm>
          <a:prstGeom prst="rect">
            <a:avLst/>
          </a:prstGeom>
        </p:spPr>
      </p:pic>
      <p:sp>
        <p:nvSpPr>
          <p:cNvPr id="6" name="Text 3"/>
          <p:cNvSpPr/>
          <p:nvPr/>
        </p:nvSpPr>
        <p:spPr>
          <a:xfrm>
            <a:off x="1046480" y="2575561"/>
            <a:ext cx="3006831"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3A2A22"/>
                </a:solidFill>
                <a:latin typeface="IBM Plex Sans" pitchFamily="34" charset="0"/>
                <a:ea typeface="IBM Plex Sans" pitchFamily="34" charset="-122"/>
                <a:cs typeface="IBM Plex Sans" pitchFamily="34" charset="-120"/>
              </a:rPr>
              <a:t>One real campus pilot</a:t>
            </a:r>
            <a:endParaRPr lang="en-US" sz="1400" dirty="0"/>
          </a:p>
        </p:txBody>
      </p:sp>
      <p:sp>
        <p:nvSpPr>
          <p:cNvPr id="7" name="Text 4"/>
          <p:cNvSpPr/>
          <p:nvPr/>
        </p:nvSpPr>
        <p:spPr>
          <a:xfrm>
            <a:off x="1046480" y="2865121"/>
            <a:ext cx="300683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4A3C"/>
                </a:solidFill>
                <a:latin typeface="IBM Plex Sans" pitchFamily="34" charset="0"/>
                <a:ea typeface="IBM Plex Sans" pitchFamily="34" charset="-122"/>
                <a:cs typeface="IBM Plex Sans" pitchFamily="34" charset="-120"/>
              </a:rPr>
              <a:t>A facilities team and real beneficiary testing, not synthetic fixtures</a:t>
            </a:r>
            <a:endParaRPr lang="en-US" sz="1200" dirty="0"/>
          </a:p>
        </p:txBody>
      </p:sp>
      <p:sp>
        <p:nvSpPr>
          <p:cNvPr id="8" name="Shape 5"/>
          <p:cNvSpPr/>
          <p:nvPr/>
        </p:nvSpPr>
        <p:spPr>
          <a:xfrm>
            <a:off x="4405789" y="2040257"/>
            <a:ext cx="3380343" cy="1482090"/>
          </a:xfrm>
          <a:prstGeom prst="roundRect">
            <a:avLst>
              <a:gd name="adj" fmla="val 6641"/>
            </a:avLst>
          </a:prstGeom>
          <a:solidFill>
            <a:srgbClr val="FFFFFE"/>
          </a:solidFill>
          <a:ln w="6350">
            <a:solidFill>
              <a:srgbClr val="EFE0D1"/>
            </a:solidFill>
            <a:prstDash val="solid"/>
          </a:ln>
        </p:spPr>
      </p:sp>
      <p:pic>
        <p:nvPicPr>
          <p:cNvPr id="9" name="Image 1" descr="Lock">    </p:cNvPr>
          <p:cNvPicPr>
            <a:picLocks noChangeAspect="1"/>
          </p:cNvPicPr>
          <p:nvPr/>
        </p:nvPicPr>
        <p:blipFill>
          <a:blip r:embed="rId2"/>
          <a:srcRect l="0" r="0" t="0" b="0"/>
          <a:stretch/>
        </p:blipFill>
        <p:spPr>
          <a:xfrm>
            <a:off x="4636294" y="2270761"/>
            <a:ext cx="228600" cy="228600"/>
          </a:xfrm>
          <a:prstGeom prst="rect">
            <a:avLst/>
          </a:prstGeom>
        </p:spPr>
      </p:pic>
      <p:sp>
        <p:nvSpPr>
          <p:cNvPr id="10" name="Text 6"/>
          <p:cNvSpPr/>
          <p:nvPr/>
        </p:nvSpPr>
        <p:spPr>
          <a:xfrm>
            <a:off x="4636294" y="2575561"/>
            <a:ext cx="300691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3A2A22"/>
                </a:solidFill>
                <a:latin typeface="IBM Plex Sans" pitchFamily="34" charset="0"/>
                <a:ea typeface="IBM Plex Sans" pitchFamily="34" charset="-122"/>
                <a:cs typeface="IBM Plex Sans" pitchFamily="34" charset="-120"/>
              </a:rPr>
              <a:t>Server-enforced relay rule</a:t>
            </a:r>
            <a:endParaRPr lang="en-US" sz="1400" dirty="0"/>
          </a:p>
        </p:txBody>
      </p:sp>
      <p:sp>
        <p:nvSpPr>
          <p:cNvPr id="11" name="Text 7"/>
          <p:cNvSpPr/>
          <p:nvPr/>
        </p:nvSpPr>
        <p:spPr>
          <a:xfrm>
            <a:off x="4636294" y="2865121"/>
            <a:ext cx="300691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4A3C"/>
                </a:solidFill>
                <a:latin typeface="IBM Plex Sans" pitchFamily="34" charset="0"/>
                <a:ea typeface="IBM Plex Sans" pitchFamily="34" charset="-122"/>
                <a:cs typeface="IBM Plex Sans" pitchFamily="34" charset="-120"/>
              </a:rPr>
              <a:t>A database trigger rejects a self-recheck, not just client-side code</a:t>
            </a:r>
            <a:endParaRPr lang="en-US" sz="1200" dirty="0"/>
          </a:p>
        </p:txBody>
      </p:sp>
      <p:sp>
        <p:nvSpPr>
          <p:cNvPr id="12" name="Shape 8"/>
          <p:cNvSpPr/>
          <p:nvPr/>
        </p:nvSpPr>
        <p:spPr>
          <a:xfrm>
            <a:off x="7995682" y="2040257"/>
            <a:ext cx="3380343" cy="1482090"/>
          </a:xfrm>
          <a:prstGeom prst="roundRect">
            <a:avLst>
              <a:gd name="adj" fmla="val 6641"/>
            </a:avLst>
          </a:prstGeom>
          <a:solidFill>
            <a:srgbClr val="FFFFFE"/>
          </a:solidFill>
          <a:ln w="6350">
            <a:solidFill>
              <a:srgbClr val="EFE0D1"/>
            </a:solidFill>
            <a:prstDash val="solid"/>
          </a:ln>
        </p:spPr>
      </p:sp>
      <p:pic>
        <p:nvPicPr>
          <p:cNvPr id="13" name="Image 2" descr="Link">    </p:cNvPr>
          <p:cNvPicPr>
            <a:picLocks noChangeAspect="1"/>
          </p:cNvPicPr>
          <p:nvPr/>
        </p:nvPicPr>
        <p:blipFill>
          <a:blip r:embed="rId3"/>
          <a:srcRect l="0" r="0" t="0" b="0"/>
          <a:stretch/>
        </p:blipFill>
        <p:spPr>
          <a:xfrm>
            <a:off x="8226187" y="2270761"/>
            <a:ext cx="228600" cy="228600"/>
          </a:xfrm>
          <a:prstGeom prst="rect">
            <a:avLst/>
          </a:prstGeom>
        </p:spPr>
      </p:pic>
      <p:sp>
        <p:nvSpPr>
          <p:cNvPr id="14" name="Text 9"/>
          <p:cNvSpPr/>
          <p:nvPr/>
        </p:nvSpPr>
        <p:spPr>
          <a:xfrm>
            <a:off x="8226187" y="2575561"/>
            <a:ext cx="300691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3A2A22"/>
                </a:solidFill>
                <a:latin typeface="IBM Plex Sans" pitchFamily="34" charset="0"/>
                <a:ea typeface="IBM Plex Sans" pitchFamily="34" charset="-122"/>
                <a:cs typeface="IBM Plex Sans" pitchFamily="34" charset="-120"/>
              </a:rPr>
              <a:t>QR check-ins per segment</a:t>
            </a:r>
            <a:endParaRPr lang="en-US" sz="1400" dirty="0"/>
          </a:p>
        </p:txBody>
      </p:sp>
      <p:sp>
        <p:nvSpPr>
          <p:cNvPr id="15" name="Text 10"/>
          <p:cNvSpPr/>
          <p:nvPr/>
        </p:nvSpPr>
        <p:spPr>
          <a:xfrm>
            <a:off x="8226187" y="2865121"/>
            <a:ext cx="300691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4A3C"/>
                </a:solidFill>
                <a:latin typeface="IBM Plex Sans" pitchFamily="34" charset="0"/>
                <a:ea typeface="IBM Plex Sans" pitchFamily="34" charset="-122"/>
                <a:cs typeface="IBM Plex Sans" pitchFamily="34" charset="-120"/>
              </a:rPr>
              <a:t>A two-tap works or blocked scan lowers the cost of a fresh observation</a:t>
            </a:r>
            <a:endParaRPr lang="en-US" sz="1200" dirty="0"/>
          </a:p>
        </p:txBody>
      </p:sp>
      <p:sp>
        <p:nvSpPr>
          <p:cNvPr id="16" name="Text 11"/>
          <p:cNvSpPr/>
          <p:nvPr/>
        </p:nvSpPr>
        <p:spPr>
          <a:xfrm>
            <a:off x="812800" y="6238239"/>
            <a:ext cx="477869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265"/>
                </a:solidFill>
                <a:latin typeface="IBM Plex Sans" pitchFamily="34" charset="0"/>
                <a:ea typeface="IBM Plex Sans" pitchFamily="34" charset="-122"/>
                <a:cs typeface="IBM Plex Sans" pitchFamily="34" charset="-120"/>
              </a:rPr>
              <a:t>Full production system design in docs/ARCHITECTURE.md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A1D16"/>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E0795A"/>
                </a:solidFill>
                <a:latin typeface="IBM Plex Sans" pitchFamily="34" charset="0"/>
                <a:ea typeface="IBM Plex Sans" pitchFamily="34" charset="-122"/>
                <a:cs typeface="IBM Plex Sans" pitchFamily="34" charset="-120"/>
              </a:rPr>
              <a:t>THE ASK</a:t>
            </a:r>
            <a:endParaRPr lang="en-US" sz="1400" dirty="0"/>
          </a:p>
        </p:txBody>
      </p:sp>
      <p:sp>
        <p:nvSpPr>
          <p:cNvPr id="3" name="Text 1"/>
          <p:cNvSpPr/>
          <p:nvPr>
            <p:ph type="title"/>
          </p:nvPr>
        </p:nvSpPr>
        <p:spPr>
          <a:xfrm>
            <a:off x="812800" y="1214121"/>
            <a:ext cx="10883392" cy="9601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BF3EA"/>
                </a:solidFill>
                <a:latin typeface="Source Serif 4" pitchFamily="18" charset="0"/>
                <a:ea typeface="Source Serif 4" pitchFamily="18" charset="-122"/>
                <a:cs typeface="Source Serif 4" pitchFamily="18" charset="-120"/>
              </a:rPr>
              <a:t>Try it. Break it. Tell us where the relay fails in your building.</a:t>
            </a:r>
            <a:endParaRPr lang="en-US" sz="3200" dirty="0"/>
          </a:p>
        </p:txBody>
      </p:sp>
      <p:sp>
        <p:nvSpPr>
          <p:cNvPr id="4" name="Text 2"/>
          <p:cNvSpPr/>
          <p:nvPr/>
        </p:nvSpPr>
        <p:spPr>
          <a:xfrm>
            <a:off x="812800" y="5100321"/>
            <a:ext cx="528472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CFC2"/>
                </a:solidFill>
                <a:latin typeface="IBM Plex Sans" pitchFamily="34" charset="0"/>
                <a:ea typeface="IBM Plex Sans" pitchFamily="34" charset="-122"/>
                <a:cs typeface="IBM Plex Sans" pitchFamily="34" charset="-120"/>
              </a:rPr>
              <a:t>Bhaskar Agarwal, team lead</a:t>
            </a:r>
            <a:endParaRPr lang="en-US" sz="1200" dirty="0"/>
          </a:p>
        </p:txBody>
      </p:sp>
      <p:sp>
        <p:nvSpPr>
          <p:cNvPr id="5" name="Text 3"/>
          <p:cNvSpPr/>
          <p:nvPr/>
        </p:nvSpPr>
        <p:spPr>
          <a:xfrm>
            <a:off x="812800" y="5364482"/>
            <a:ext cx="528472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CFC2"/>
                </a:solidFill>
                <a:latin typeface="IBM Plex Sans" pitchFamily="34" charset="0"/>
                <a:ea typeface="IBM Plex Sans" pitchFamily="34" charset="-122"/>
                <a:cs typeface="IBM Plex Sans" pitchFamily="34" charset="-120"/>
              </a:rPr>
              <a:t>Lakshya Seth, engineering</a:t>
            </a:r>
            <a:endParaRPr lang="en-US" sz="1200" dirty="0"/>
          </a:p>
        </p:txBody>
      </p:sp>
      <p:sp>
        <p:nvSpPr>
          <p:cNvPr id="6" name="Text 4"/>
          <p:cNvSpPr/>
          <p:nvPr/>
        </p:nvSpPr>
        <p:spPr>
          <a:xfrm>
            <a:off x="812800" y="5628639"/>
            <a:ext cx="528472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CFC2"/>
                </a:solidFill>
                <a:latin typeface="IBM Plex Sans" pitchFamily="34" charset="0"/>
                <a:ea typeface="IBM Plex Sans" pitchFamily="34" charset="-122"/>
                <a:cs typeface="IBM Plex Sans" pitchFamily="34" charset="-120"/>
              </a:rPr>
              <a:t>Aashi Gupta, engineering</a:t>
            </a:r>
            <a:endParaRPr lang="en-US" sz="1200" dirty="0"/>
          </a:p>
        </p:txBody>
      </p:sp>
      <p:sp>
        <p:nvSpPr>
          <p:cNvPr id="7" name="Text 5"/>
          <p:cNvSpPr/>
          <p:nvPr/>
        </p:nvSpPr>
        <p:spPr>
          <a:xfrm>
            <a:off x="6094476" y="5628639"/>
            <a:ext cx="5284724"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E8CFC2"/>
                </a:solidFill>
                <a:latin typeface="IBM Plex Sans" pitchFamily="34" charset="0"/>
                <a:ea typeface="IBM Plex Sans" pitchFamily="34" charset="-122"/>
                <a:cs typeface="IBM Plex Sans" pitchFamily="34" charset="-120"/>
              </a:rPr>
              <a:t>Download the audit trail. See for yourself the relay rule can’t be bypassed.</a:t>
            </a:r>
            <a:endParaRPr lang="en-US" sz="1200" dirty="0"/>
          </a:p>
        </p:txBody>
      </p:sp>
    </p:spTree>
  </p:cSld>
  <p:clrMapOvr>
    <a:masterClrMapping/>
  </p:clrMapOvr>
</p:sld>
</file>

<file path=ppt/theme/theme1.xml><?xml version="1.0" encoding="utf-8"?>
<a:theme xmlns:a="http://schemas.openxmlformats.org/drawingml/2006/main" name="AccessRelay Pitch Deck">
  <a:themeElements>
    <a:clrScheme name="AccessRelay Pitch Deck">
      <a:dk1>
        <a:srgbClr val="3A2A22"/>
      </a:dk1>
      <a:lt1>
        <a:srgbClr val="FBF3EA"/>
      </a:lt1>
      <a:dk2>
        <a:srgbClr val="6A5C54"/>
      </a:dk2>
      <a:lt2>
        <a:srgbClr val="E8DFD6"/>
      </a:lt2>
      <a:accent1>
        <a:srgbClr val="9C3E22"/>
      </a:accent1>
      <a:accent2>
        <a:srgbClr val="E0795A"/>
      </a:accent2>
      <a:accent3>
        <a:srgbClr val="5A4A3C"/>
      </a:accent3>
      <a:accent4>
        <a:srgbClr val="E8CFC2"/>
      </a:accent4>
      <a:accent5>
        <a:srgbClr val="8A7265"/>
      </a:accent5>
      <a:accent6>
        <a:srgbClr val="C9B6A8"/>
      </a:accent6>
      <a:hlink>
        <a:srgbClr val="0563C1"/>
      </a:hlink>
      <a:folHlink>
        <a:srgbClr val="954F72"/>
      </a:folHlink>
    </a:clrScheme>
    <a:fontScheme name="AccessRelay Pitch Deck">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AccessRelay Pitch Deck</dc:title>
  <dc:subject/>
  <dc:creator/>
  <cp:lastModifiedBy/>
  <cp:revision>1</cp:revision>
  <dcterms:created xsi:type="dcterms:W3CDTF">2026-10-27T14:32:24Z</dcterms:created>
  <dcterms:modified xsi:type="dcterms:W3CDTF">2026-10-27T14:32:24Z</dcterms:modified>
</cp:coreProperties>
</file>