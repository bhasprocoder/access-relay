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89be98c4374d21" /><Relationship Type="http://schemas.openxmlformats.org/officeDocument/2006/relationships/extended-properties" Target="/docProps/app.xml" Id="R017a4e20bf4e4c79" /><Relationship Type="http://schemas.openxmlformats.org/officeDocument/2006/relationships/officeDocument" Target="/ppt/presentation.xml" Id="R0e0ec7a285304341" /></Relationships>
</file>

<file path=ppt/presentation.xml><?xml version="1.0" encoding="utf-8"?>
<p:presentation xmlns:p="http://schemas.openxmlformats.org/presentationml/2006/main">
  <p:sldMasterIdLst>
    <p:sldMasterId xmlns:r="http://schemas.openxmlformats.org/officeDocument/2006/relationships" id="2147483648" r:id="Ra07951de162c4681"/>
  </p:sldMasterIdLst>
  <p:notesMasterIdLst>
    <p:notesMasterId xmlns:r="http://schemas.openxmlformats.org/officeDocument/2006/relationships" r:id="Re15fa0ffa1e94883"/>
  </p:notesMasterIdLst>
  <p:sldIdLst>
    <p:sldId xmlns:r="http://schemas.openxmlformats.org/officeDocument/2006/relationships" id="256" r:id="R007a4a3ca4b4497b"/>
    <p:sldId xmlns:r="http://schemas.openxmlformats.org/officeDocument/2006/relationships" id="257" r:id="R48d1da9d30774b2a"/>
    <p:sldId xmlns:r="http://schemas.openxmlformats.org/officeDocument/2006/relationships" id="258" r:id="R96987bff8e304c87"/>
    <p:sldId xmlns:r="http://schemas.openxmlformats.org/officeDocument/2006/relationships" id="259" r:id="R8cbdf9072109432c"/>
    <p:sldId xmlns:r="http://schemas.openxmlformats.org/officeDocument/2006/relationships" id="260" r:id="Re2f8dcb3897047e9"/>
    <p:sldId xmlns:r="http://schemas.openxmlformats.org/officeDocument/2006/relationships" id="261" r:id="Rfbe17094be1a4923"/>
    <p:sldId xmlns:r="http://schemas.openxmlformats.org/officeDocument/2006/relationships" id="262" r:id="R236a92e24c464867"/>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1bf9a9b3af3447e" /><Relationship Type="http://schemas.openxmlformats.org/officeDocument/2006/relationships/slideMaster" Target="/ppt/slideMasters/slideMaster1.xml" Id="Ra07951de162c4681" /><Relationship Type="http://schemas.openxmlformats.org/officeDocument/2006/relationships/notesMaster" Target="/ppt/notesMasters/notesMaster1.xml" Id="Re15fa0ffa1e94883" /><Relationship Type="http://schemas.openxmlformats.org/officeDocument/2006/relationships/presProps" Target="/ppt/presProps.xml" Id="R4c85e808750c4aab" /><Relationship Type="http://schemas.openxmlformats.org/officeDocument/2006/relationships/viewProps" Target="/ppt/viewProps.xml" Id="R199cafb2afe44889" /><Relationship Type="http://schemas.openxmlformats.org/officeDocument/2006/relationships/tableStyles" Target="/ppt/tableStyles.xml" Id="Reea25c29aa6e4aac" /><Relationship Type="http://schemas.openxmlformats.org/officeDocument/2006/relationships/slide" Target="/ppt/slides/slide1.xml" Id="R007a4a3ca4b4497b" /><Relationship Type="http://schemas.openxmlformats.org/officeDocument/2006/relationships/slide" Target="/ppt/slides/slide2.xml" Id="R48d1da9d30774b2a" /><Relationship Type="http://schemas.openxmlformats.org/officeDocument/2006/relationships/slide" Target="/ppt/slides/slide3.xml" Id="R96987bff8e304c87" /><Relationship Type="http://schemas.openxmlformats.org/officeDocument/2006/relationships/slide" Target="/ppt/slides/slide4.xml" Id="R8cbdf9072109432c" /><Relationship Type="http://schemas.openxmlformats.org/officeDocument/2006/relationships/slide" Target="/ppt/slides/slide5.xml" Id="Re2f8dcb3897047e9" /><Relationship Type="http://schemas.openxmlformats.org/officeDocument/2006/relationships/slide" Target="/ppt/slides/slide6.xml" Id="Rfbe17094be1a4923" /><Relationship Type="http://schemas.openxmlformats.org/officeDocument/2006/relationships/slide" Target="/ppt/slides/slide7.xml" Id="R236a92e24c4648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036e629b164f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ccessRelay Pitch Deck">
  <a:themeElements>
    <a:clrScheme name="AccessRelay Pitch Deck">
      <a:dk1>
        <a:srgbClr val="3A2A22"/>
      </a:dk1>
      <a:lt1>
        <a:srgbClr val="FBF3EA"/>
      </a:lt1>
      <a:dk2>
        <a:srgbClr val="6A5C54"/>
      </a:dk2>
      <a:lt2>
        <a:srgbClr val="E8DFD6"/>
      </a:lt2>
      <a:accent1>
        <a:srgbClr val="9C3E22"/>
      </a:accent1>
      <a:accent2>
        <a:srgbClr val="E0795A"/>
      </a:accent2>
      <a:accent3>
        <a:srgbClr val="5A4A3C"/>
      </a:accent3>
      <a:accent4>
        <a:srgbClr val="E8CFC2"/>
      </a:accent4>
      <a:accent5>
        <a:srgbClr val="8A7265"/>
      </a:accent5>
      <a:accent6>
        <a:srgbClr val="C9B6A8"/>
      </a:accent6>
      <a:hlink>
        <a:srgbClr val="0563C1"/>
      </a:hlink>
      <a:folHlink>
        <a:srgbClr val="954F72"/>
      </a:folHlink>
    </a:clrScheme>
    <a:fontScheme name="AccessRelay Pitch Deck">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ccessRelay Pitch Deck">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e4aea4612341f7" /><Relationship Type="http://schemas.openxmlformats.org/officeDocument/2006/relationships/notesMaster" Target="/ppt/notesMasters/notesMaster1.xml" Id="R51aefcbe7a7948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62850861964841" /><Relationship Type="http://schemas.openxmlformats.org/officeDocument/2006/relationships/notesMaster" Target="/ppt/notesMasters/notesMaster1.xml" Id="Raa8bf5a8463844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06f0250db95496d" /><Relationship Type="http://schemas.openxmlformats.org/officeDocument/2006/relationships/notesMaster" Target="/ppt/notesMasters/notesMaster1.xml" Id="Reb2b6c03fadb4d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9bbb3ebb094532" /><Relationship Type="http://schemas.openxmlformats.org/officeDocument/2006/relationships/notesMaster" Target="/ppt/notesMasters/notesMaster1.xml" Id="Rd322040e5ff04a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f983ff260c4bb2" /><Relationship Type="http://schemas.openxmlformats.org/officeDocument/2006/relationships/notesMaster" Target="/ppt/notesMasters/notesMaster1.xml" Id="R096f79ff8cba44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3130eadb6c43a2" /><Relationship Type="http://schemas.openxmlformats.org/officeDocument/2006/relationships/notesMaster" Target="/ppt/notesMasters/notesMaster1.xml" Id="R40a99b57cd1044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e49b8509a4437e" /><Relationship Type="http://schemas.openxmlformats.org/officeDocument/2006/relationships/notesMaster" Target="/ppt/notesMasters/notesMaster1.xml" Id="R5d520ef779624a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we're Team AccessRelay. Thanks for having us. One sentence to start: nobody visits a building, they visit a service, and today's accessibility maps only ever tell you about the building.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hook. We want the room to feel the gap before we show anything: a static accessible checkmark and a broken lift look exactly the same on every map that exists today, and that gap is where someone actually gets stuck.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live app now. Drag the preview-time slider first, a currently-clear segment flips to "needs a fresh check" on camera. Then report the shared gate and point at the Campus Priority banner. Then claim the ramp as staff and try to recheck it yourself, let it get rejected on camera. Then switch to reviewer and fail, then pass, the recheck. Then drag time forward on a pending claim to show the overdue warning and escalation draft. Then download the audit trail and open the JSON on screen.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one invariant that matters. It is enforced in code today (domain.js throws if the same actor tries to claim and recheck), and we show how we'd move that same guarantee into the database layer on the next slide's architecture doc.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We're being careful here not to invent user counts or prevented incidents. The honest claim is that these three numbers are measurable from day one of a real pilot, which is more than a static map gives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scoped these on purpose: a real pilot, the rule moved into the database, and a cheap way for staff to generate fresh observations. Nothing speculative, nothing we can't start on this week.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here. The ask is concrete: open the app, try to break the rule yourself, and tell us where it would actually fail on your own campus.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5ee3f41dc343f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2b40672f549453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and body">
    <p:bg>
      <p:bgPr>
        <a:solidFill xmlns:a="http://schemas.openxmlformats.org/drawingml/2006/main">
          <a:srgbClr val="FBF3EA"/>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BFDB23B-AC0D-45A6-8845-565E3E9CFC67}"/>
              </a:ext>
            </a:extLst>
          </p:cNvPr>
          <p:cNvSpPr>
            <a:spLocks xmlns:a="http://schemas.openxmlformats.org/drawingml/2006/main" noGrp="1"/>
          </p:cNvSpPr>
          <p:nvPr>
            <p:ph type="title" idx="0"/>
          </p:nvPr>
        </p:nvSpPr>
        <p:spPr>
          <a:xfrm xmlns:a="http://schemas.openxmlformats.org/drawingml/2006/main">
            <a:off x="812800" y="1315721"/>
            <a:ext cx="10566400" cy="46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200">
                <a:solidFill>
                  <a:srgbClr val="3A2A22"/>
                </a:solidFill>
                <a:latin typeface="Source Serif 4"/>
                <a:ea typeface="Source Serif 4"/>
                <a:cs typeface="Source Serif 4"/>
              </a:defRPr>
            </a:lvl1pPr>
          </a:lstStyle>
          <a:p xmlns:a="http://schemas.openxmlformats.org/drawingml/2006/main">
            <a:pPr marL="0" indent="0" algn="l">
              <a:lnSpc>
                <a:spcPct val="115000"/>
              </a:lnSpc>
              <a:buNone/>
            </a:pPr>
            <a:endParaRPr sz="3200"/>
          </a:p>
        </p:txBody>
      </p:sp>
      <p:sp>
        <p:nvSpPr>
          <p:cNvPr id="3" name="Text Placeholder 2">
            <a:extLst xmlns:a="http://schemas.openxmlformats.org/drawingml/2006/main">
              <a:ext uri="{FF2B5EF4-FFF2-40B4-BE49-F238E27FC236}">
                <a16:creationId xmlns:a16="http://schemas.microsoft.com/office/drawing/2014/main" id="{B3B73F4D-137B-4094-A5A1-6DFA731D8F2C}"/>
              </a:ext>
            </a:extLst>
          </p:cNvPr>
          <p:cNvSpPr>
            <a:spLocks xmlns:a="http://schemas.openxmlformats.org/drawingml/2006/main" noGrp="1"/>
          </p:cNvSpPr>
          <p:nvPr>
            <p:ph type="body" idx="101"/>
          </p:nvPr>
        </p:nvSpPr>
        <p:spPr>
          <a:xfrm xmlns:a="http://schemas.openxmlformats.org/drawingml/2006/main">
            <a:off x="812800" y="2087881"/>
            <a:ext cx="10566400" cy="3957319"/>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3A2A22"/>
                </a:solidFill>
                <a:latin typeface="IBM Plex Sans"/>
                <a:ea typeface="IBM Plex Sans"/>
                <a:cs typeface="IBM Plex Sans"/>
              </a:defRPr>
            </a:lvl1pPr>
          </a:lstStyle>
          <a:p xmlns:a="http://schemas.openxmlformats.org/drawingml/2006/main">
            <a:pPr marL="0" indent="0" algn="l">
              <a:lnSpc>
                <a:spcPct val="140000"/>
              </a:lnSpc>
              <a:buNone/>
            </a:pPr>
            <a:endParaRPr sz="1600"/>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2ab491fe084130" /><Relationship Type="http://schemas.openxmlformats.org/officeDocument/2006/relationships/slideLayout" Target="/ppt/slideLayouts/slideLayout1.xml" Id="Rd6b1ff7baa4e4217" /><Relationship Type="http://schemas.openxmlformats.org/officeDocument/2006/relationships/slideLayout" Target="/ppt/slideLayouts/slideLayout2.xml" Id="R4deea6ec960b4d6d" /></Relationships>
</file>

<file path=ppt/slideMasters/slideMaster1.xml><?xml version="1.0" encoding="utf-8"?>
<p:sldMaster xmlns:p="http://schemas.openxmlformats.org/presentationml/2006/main">
  <p:cSld>
    <p:bg>
      <p:bgPr>
        <a:solidFill xmlns:a="http://schemas.openxmlformats.org/drawingml/2006/main">
          <a:srgbClr val="FBF3EA"/>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492ED5CF-5CA7-4214-8E79-EA39E9F7F289}"/>
              </a:ext>
            </a:extLst>
          </p:cNvPr>
          <p:cNvSpPr>
            <a:spLocks xmlns:a="http://schemas.openxmlformats.org/drawingml/2006/main" noGrp="1"/>
          </p:cNvSpPr>
          <p:nvPr>
            <p:ph type="title" idx="0"/>
          </p:nvPr>
        </p:nvSpPr>
        <p:spPr>
          <a:xfrm xmlns:a="http://schemas.openxmlformats.org/drawingml/2006/main">
            <a:off x="812800" y="1315721"/>
            <a:ext cx="10566400" cy="46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200">
                <a:solidFill>
                  <a:srgbClr val="3A2A22"/>
                </a:solidFill>
                <a:latin typeface="Source Serif 4"/>
                <a:ea typeface="Source Serif 4"/>
                <a:cs typeface="Source Serif 4"/>
              </a:defRPr>
            </a:lvl1pPr>
          </a:lstStyle>
          <a:p xmlns:a="http://schemas.openxmlformats.org/drawingml/2006/main">
            <a:pPr marL="0" indent="0" algn="l">
              <a:lnSpc>
                <a:spcPct val="115000"/>
              </a:lnSpc>
              <a:buNone/>
            </a:pPr>
            <a:endParaRPr sz="3200"/>
          </a:p>
        </p:txBody>
      </p:sp>
      <p:sp>
        <p:nvSpPr>
          <p:cNvPr id="3" name="Text Placeholder 2">
            <a:extLst xmlns:a="http://schemas.openxmlformats.org/drawingml/2006/main">
              <a:ext uri="{FF2B5EF4-FFF2-40B4-BE49-F238E27FC236}">
                <a16:creationId xmlns:a16="http://schemas.microsoft.com/office/drawing/2014/main" id="{DE3F1828-51B8-4A7E-A8DB-5F0905B0D1A8}"/>
              </a:ext>
            </a:extLst>
          </p:cNvPr>
          <p:cNvSpPr>
            <a:spLocks xmlns:a="http://schemas.openxmlformats.org/drawingml/2006/main" noGrp="1"/>
          </p:cNvSpPr>
          <p:nvPr>
            <p:ph type="body" idx="101"/>
          </p:nvPr>
        </p:nvSpPr>
        <p:spPr>
          <a:xfrm xmlns:a="http://schemas.openxmlformats.org/drawingml/2006/main">
            <a:off x="812800" y="2087881"/>
            <a:ext cx="10566400" cy="3957319"/>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3A2A22"/>
                </a:solidFill>
                <a:latin typeface="IBM Plex Sans"/>
                <a:ea typeface="IBM Plex Sans"/>
                <a:cs typeface="IBM Plex Sans"/>
              </a:defRPr>
            </a:lvl1pPr>
          </a:lstStyle>
          <a:p xmlns:a="http://schemas.openxmlformats.org/drawingml/2006/main">
            <a:pPr marL="0" indent="0" algn="l">
              <a:lnSpc>
                <a:spcPct val="140000"/>
              </a:lnSpc>
              <a:buNone/>
            </a:pPr>
            <a:endParaRPr sz="16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b1ff7baa4e4217"/>
    <p:sldLayoutId xmlns:r="http://schemas.openxmlformats.org/officeDocument/2006/relationships" id="2147483650" r:id="R4deea6ec960b4d6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ccessRelay Pitch Deck">
  <a:themeElements>
    <a:clrScheme name="AccessRelay Pitch Deck">
      <a:dk1>
        <a:srgbClr val="3A2A22"/>
      </a:dk1>
      <a:lt1>
        <a:srgbClr val="FBF3EA"/>
      </a:lt1>
      <a:dk2>
        <a:srgbClr val="6A5C54"/>
      </a:dk2>
      <a:lt2>
        <a:srgbClr val="E8DFD6"/>
      </a:lt2>
      <a:accent1>
        <a:srgbClr val="9C3E22"/>
      </a:accent1>
      <a:accent2>
        <a:srgbClr val="E0795A"/>
      </a:accent2>
      <a:accent3>
        <a:srgbClr val="5A4A3C"/>
      </a:accent3>
      <a:accent4>
        <a:srgbClr val="E8CFC2"/>
      </a:accent4>
      <a:accent5>
        <a:srgbClr val="8A7265"/>
      </a:accent5>
      <a:accent6>
        <a:srgbClr val="C9B6A8"/>
      </a:accent6>
      <a:hlink>
        <a:srgbClr val="0563C1"/>
      </a:hlink>
      <a:folHlink>
        <a:srgbClr val="954F72"/>
      </a:folHlink>
    </a:clrScheme>
    <a:fontScheme name="AccessRelay Pitch Deck">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ccessRelay Pitch Deck">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f57014c9b794145" /><Relationship Type="http://schemas.openxmlformats.org/officeDocument/2006/relationships/notesSlide" Target="/ppt/notesSlides/notesSlide1.xml" Id="R067d8e9d7c2d44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a78282f0d155415d" /><Relationship Type="http://schemas.openxmlformats.org/officeDocument/2006/relationships/notesSlide" Target="/ppt/notesSlides/notesSlide2.xml" Id="R008a5344caee4b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4f7ca7e45db446c0" /><Relationship Type="http://schemas.openxmlformats.org/officeDocument/2006/relationships/notesSlide" Target="/ppt/notesSlides/notesSlide3.xml" Id="R6b6cfd83f6b542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d1e0d8876e634337" /><Relationship Type="http://schemas.openxmlformats.org/officeDocument/2006/relationships/image" Target="/ppt/media/image.png" Id="R1bced00c628a42de" /><Relationship Type="http://schemas.openxmlformats.org/officeDocument/2006/relationships/image" Target="/ppt/media/image2.png" Id="Rdb51585bb4af4385" /><Relationship Type="http://schemas.openxmlformats.org/officeDocument/2006/relationships/image" Target="/ppt/media/image3.png" Id="R05210bed2155495b" /><Relationship Type="http://schemas.openxmlformats.org/officeDocument/2006/relationships/image" Target="/ppt/media/image4.png" Id="R4c3d8b593971479d" /><Relationship Type="http://schemas.openxmlformats.org/officeDocument/2006/relationships/notesSlide" Target="/ppt/notesSlides/notesSlide4.xml" Id="Rcce75d7e74104c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c2997e77f4e24c8d" /><Relationship Type="http://schemas.openxmlformats.org/officeDocument/2006/relationships/notesSlide" Target="/ppt/notesSlides/notesSlide5.xml" Id="R790d573623e549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95947392e8446c0" /><Relationship Type="http://schemas.openxmlformats.org/officeDocument/2006/relationships/image" Target="/ppt/media/image5.png" Id="Rc5d90cb176f84f77" /><Relationship Type="http://schemas.openxmlformats.org/officeDocument/2006/relationships/image" Target="/ppt/media/image6.png" Id="R71aad4ef232e4520" /><Relationship Type="http://schemas.openxmlformats.org/officeDocument/2006/relationships/image" Target="/ppt/media/image7.png" Id="Ra77f4bfb9fc04226" /><Relationship Type="http://schemas.openxmlformats.org/officeDocument/2006/relationships/notesSlide" Target="/ppt/notesSlides/notesSlide6.xml" Id="R996a4f0773a24b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bc9ba864adcc427f" /><Relationship Type="http://schemas.openxmlformats.org/officeDocument/2006/relationships/notesSlide" Target="/ppt/notesSlides/notesSlide7.xml" Id="R8807037bcd1e4a09" /></Relationships>
</file>

<file path=ppt/slides/slide1.xml><?xml version="1.0" encoding="utf-8"?>
<p:sld xmlns:p="http://schemas.openxmlformats.org/presentationml/2006/main">
  <p:cSld>
    <p:bg>
      <p:bgPr>
        <a:solidFill xmlns:a="http://schemas.openxmlformats.org/drawingml/2006/main">
          <a:srgbClr val="2A1D16"/>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E8E216-5D9B-44BD-AFC9-7A12DD959765}"/>
              </a:ext>
            </a:extLst>
          </p:cNvPr>
          <p:cNvSpPr>
            <a:spLocks xmlns:a="http://schemas.openxmlformats.org/drawingml/2006/main" noGrp="1"/>
          </p:cNvSpPr>
          <p:nvPr/>
        </p:nvSpPr>
        <p:spPr>
          <a:xfrm xmlns:a="http://schemas.openxmlformats.org/drawingml/2006/main">
            <a:off x="812800" y="2091055"/>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200">
                <a:solidFill>
                  <a:srgbClr val="E0795A"/>
                </a:solidFill>
                <a:latin typeface="IBM Plex Sans"/>
                <a:ea typeface="IBM Plex Sans"/>
                <a:cs typeface="IBM Plex Sans"/>
              </a:rPr>
              <a:t>HSC–VBYLD 2027 · ASSISTIVE TECHNOLOGY &amp; ACCESSIBILITY</a:t>
            </a:r>
            <a:endParaRPr sz="1400"/>
          </a:p>
        </p:txBody>
      </p:sp>
      <p:sp>
        <p:nvSpPr>
          <p:cNvPr id="3" name="Text 1">
            <a:extLst xmlns:a="http://schemas.openxmlformats.org/drawingml/2006/main">
              <a:ext uri="{FF2B5EF4-FFF2-40B4-BE49-F238E27FC236}">
                <a16:creationId xmlns:a16="http://schemas.microsoft.com/office/drawing/2014/main" id="{8CCC1BC3-00EA-404A-BDBB-3C55F2C380F6}"/>
              </a:ext>
            </a:extLst>
          </p:cNvPr>
          <p:cNvSpPr>
            <a:spLocks xmlns:a="http://schemas.openxmlformats.org/drawingml/2006/main" noGrp="1"/>
          </p:cNvSpPr>
          <p:nvPr>
            <p:ph type="title" idx="0"/>
          </p:nvPr>
        </p:nvSpPr>
        <p:spPr>
          <a:xfrm xmlns:a="http://schemas.openxmlformats.org/drawingml/2006/main">
            <a:off x="812800" y="2593975"/>
            <a:ext cx="10883392" cy="9588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7350"/>
              </a:lnSpc>
              <a:buNone/>
            </a:pPr>
            <a:r>
              <a:rPr sz="7000" b="1" i="0">
                <a:solidFill>
                  <a:srgbClr val="FBF3EA"/>
                </a:solidFill>
                <a:latin typeface="Source Serif 4"/>
                <a:ea typeface="Source Serif 4"/>
                <a:cs typeface="Source Serif 4"/>
              </a:rPr>
              <a:t>AccessRelay</a:t>
            </a:r>
            <a:endParaRPr sz="7000"/>
          </a:p>
        </p:txBody>
      </p:sp>
      <p:sp>
        <p:nvSpPr>
          <p:cNvPr id="4" name="Text 2">
            <a:extLst xmlns:a="http://schemas.openxmlformats.org/drawingml/2006/main">
              <a:ext uri="{FF2B5EF4-FFF2-40B4-BE49-F238E27FC236}">
                <a16:creationId xmlns:a16="http://schemas.microsoft.com/office/drawing/2014/main" id="{9A561E49-BDCA-4E8E-81DB-CE0D8C214EE0}"/>
              </a:ext>
            </a:extLst>
          </p:cNvPr>
          <p:cNvSpPr>
            <a:spLocks xmlns:a="http://schemas.openxmlformats.org/drawingml/2006/main" noGrp="1"/>
          </p:cNvSpPr>
          <p:nvPr/>
        </p:nvSpPr>
        <p:spPr>
          <a:xfrm xmlns:a="http://schemas.openxmlformats.org/drawingml/2006/main">
            <a:off x="812800" y="3781425"/>
            <a:ext cx="10883392" cy="807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080"/>
              </a:lnSpc>
              <a:buNone/>
            </a:pPr>
            <a:r>
              <a:rPr sz="2200" i="1">
                <a:solidFill>
                  <a:srgbClr val="E8CFC2"/>
                </a:solidFill>
                <a:latin typeface="Source Serif 4"/>
                <a:ea typeface="Source Serif 4"/>
                <a:cs typeface="Source Serif 4"/>
              </a:rPr>
              <a:t>Nobody visits a building. They visit a service, and one broken handoff fails the whole visit.</a:t>
            </a:r>
            <a:endParaRPr sz="2200"/>
          </a:p>
        </p:txBody>
      </p:sp>
      <p:sp>
        <p:nvSpPr>
          <p:cNvPr id="5" name="Text 3">
            <a:extLst xmlns:a="http://schemas.openxmlformats.org/drawingml/2006/main">
              <a:ext uri="{FF2B5EF4-FFF2-40B4-BE49-F238E27FC236}">
                <a16:creationId xmlns:a16="http://schemas.microsoft.com/office/drawing/2014/main" id="{C6BC8490-31E3-4E9D-8D11-70D2381C365A}"/>
              </a:ext>
            </a:extLst>
          </p:cNvPr>
          <p:cNvSpPr>
            <a:spLocks xmlns:a="http://schemas.openxmlformats.org/drawingml/2006/main" noGrp="1"/>
          </p:cNvSpPr>
          <p:nvPr/>
        </p:nvSpPr>
        <p:spPr>
          <a:xfrm xmlns:a="http://schemas.openxmlformats.org/drawingml/2006/main">
            <a:off x="812800" y="6238240"/>
            <a:ext cx="4639532"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C9B6A8"/>
                </a:solidFill>
                <a:latin typeface="IBM Plex Sans"/>
                <a:ea typeface="IBM Plex Sans"/>
                <a:cs typeface="IBM Plex Sans"/>
              </a:rPr>
              <a:t>Synthetic demo data throughout. Not a safety guarantee.</a:t>
            </a:r>
            <a:endParaRPr sz="1200"/>
          </a:p>
        </p:txBody>
      </p:sp>
    </p:spTree>
    <p:extLst>
      <p:ext uri="{BB962C8B-B14F-4D97-AF65-F5344CB8AC3E}">
        <p14:creationId xmlns:p14="http://schemas.microsoft.com/office/powerpoint/2010/main" val="1674429250"/>
      </p:ext>
    </p:extLst>
  </p:cSld>
</p:sld>
</file>

<file path=ppt/slides/slide2.xml><?xml version="1.0" encoding="utf-8"?>
<p:sld xmlns:p="http://schemas.openxmlformats.org/presentationml/2006/main">
  <p:cSld>
    <p:bg>
      <p:bgPr>
        <a:solidFill xmlns:a="http://schemas.openxmlformats.org/drawingml/2006/main">
          <a:srgbClr val="FBF3E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6E57B5-ACC4-4661-A59A-F86F57E512E4}"/>
              </a:ext>
            </a:extLst>
          </p:cNvPr>
          <p:cNvSpPr>
            <a:spLocks xmlns:a="http://schemas.openxmlformats.org/drawingml/2006/main" noGrp="1"/>
          </p:cNvSpPr>
          <p:nvPr/>
        </p:nvSpPr>
        <p:spPr>
          <a:xfrm xmlns:a="http://schemas.openxmlformats.org/drawingml/2006/main">
            <a:off x="812800" y="812800"/>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9C3E22"/>
                </a:solidFill>
                <a:latin typeface="IBM Plex Sans"/>
                <a:ea typeface="IBM Plex Sans"/>
                <a:cs typeface="IBM Plex Sans"/>
              </a:rPr>
              <a:t>THE PROBLEM</a:t>
            </a:r>
            <a:endParaRPr sz="1400"/>
          </a:p>
        </p:txBody>
      </p:sp>
      <p:sp>
        <p:nvSpPr>
          <p:cNvPr id="3" name="Text 1">
            <a:extLst xmlns:a="http://schemas.openxmlformats.org/drawingml/2006/main">
              <a:ext uri="{FF2B5EF4-FFF2-40B4-BE49-F238E27FC236}">
                <a16:creationId xmlns:a16="http://schemas.microsoft.com/office/drawing/2014/main" id="{8EFF4465-0C26-4655-86C4-0358BACF9CD5}"/>
              </a:ext>
            </a:extLst>
          </p:cNvPr>
          <p:cNvSpPr>
            <a:spLocks xmlns:a="http://schemas.openxmlformats.org/drawingml/2006/main" noGrp="1"/>
          </p:cNvSpPr>
          <p:nvPr>
            <p:ph type="title" idx="0"/>
          </p:nvPr>
        </p:nvSpPr>
        <p:spPr>
          <a:xfrm xmlns:a="http://schemas.openxmlformats.org/drawingml/2006/main">
            <a:off x="812800" y="1366520"/>
            <a:ext cx="10883392" cy="10769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4140"/>
              </a:lnSpc>
              <a:buNone/>
            </a:pPr>
            <a:r>
              <a:rPr sz="3600" b="1" i="0">
                <a:solidFill>
                  <a:srgbClr val="3A2A22"/>
                </a:solidFill>
                <a:latin typeface="Source Serif 4"/>
                <a:ea typeface="Source Serif 4"/>
                <a:cs typeface="Source Serif 4"/>
              </a:rPr>
              <a:t>A 2022 “accessible” sticker looks identical to a lift that broke this morning.</a:t>
            </a:r>
            <a:endParaRPr sz="3600"/>
          </a:p>
        </p:txBody>
      </p:sp>
      <p:sp>
        <p:nvSpPr>
          <p:cNvPr id="4" name="Text 2">
            <a:extLst xmlns:a="http://schemas.openxmlformats.org/drawingml/2006/main">
              <a:ext uri="{FF2B5EF4-FFF2-40B4-BE49-F238E27FC236}">
                <a16:creationId xmlns:a16="http://schemas.microsoft.com/office/drawing/2014/main" id="{96181270-810B-447D-989A-6991B46C3196}"/>
              </a:ext>
            </a:extLst>
          </p:cNvPr>
          <p:cNvSpPr>
            <a:spLocks xmlns:a="http://schemas.openxmlformats.org/drawingml/2006/main" noGrp="1"/>
          </p:cNvSpPr>
          <p:nvPr/>
        </p:nvSpPr>
        <p:spPr>
          <a:xfrm xmlns:a="http://schemas.openxmlformats.org/drawingml/2006/main">
            <a:off x="812800" y="2722880"/>
            <a:ext cx="10883392" cy="9398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2400"/>
              </a:lnSpc>
              <a:buNone/>
            </a:pPr>
            <a:r>
              <a:rPr sz="1600">
                <a:solidFill>
                  <a:srgbClr val="5A4A3C"/>
                </a:solidFill>
                <a:latin typeface="IBM Plex Sans"/>
                <a:ea typeface="IBM Plex Sans"/>
                <a:cs typeface="IBM Plex Sans"/>
              </a:rPr>
              <a:t>Existing tools help map places and barriers. AccessRelay explores a narrower institutional workflow: dated evidence for each checkpoint in a service journey, plus independent repair rechecks.</a:t>
            </a:r>
            <a:endParaRPr sz="1600"/>
          </a:p>
        </p:txBody>
      </p:sp>
      <p:sp>
        <p:nvSpPr>
          <p:cNvPr id="5" name="Text 3">
            <a:extLst xmlns:a="http://schemas.openxmlformats.org/drawingml/2006/main">
              <a:ext uri="{FF2B5EF4-FFF2-40B4-BE49-F238E27FC236}">
                <a16:creationId xmlns:a16="http://schemas.microsoft.com/office/drawing/2014/main" id="{028D41AE-9EF4-44C5-ABD3-5B5FB3E6C9C9}"/>
              </a:ext>
            </a:extLst>
          </p:cNvPr>
          <p:cNvSpPr>
            <a:spLocks xmlns:a="http://schemas.openxmlformats.org/drawingml/2006/main" noGrp="1"/>
          </p:cNvSpPr>
          <p:nvPr/>
        </p:nvSpPr>
        <p:spPr>
          <a:xfrm xmlns:a="http://schemas.openxmlformats.org/drawingml/2006/main">
            <a:off x="812800" y="6238241"/>
            <a:ext cx="7949279"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A7265"/>
                </a:solidFill>
                <a:latin typeface="IBM Plex Sans"/>
                <a:ea typeface="IBM Plex Sans"/>
                <a:cs typeface="IBM Plex Sans"/>
              </a:rPr>
              <a:t>We’re not claiming absolute novelty. We’re claiming a sharper angle: freshness, not just presence.</a:t>
            </a:r>
            <a:endParaRPr sz="1200"/>
          </a:p>
        </p:txBody>
      </p:sp>
    </p:spTree>
    <p:extLst>
      <p:ext uri="{BB962C8B-B14F-4D97-AF65-F5344CB8AC3E}">
        <p14:creationId xmlns:p14="http://schemas.microsoft.com/office/powerpoint/2010/main" val="906817740"/>
      </p:ext>
    </p:extLst>
  </p:cSld>
</p:sld>
</file>

<file path=ppt/slides/slide3.xml><?xml version="1.0" encoding="utf-8"?>
<p:sld xmlns:p="http://schemas.openxmlformats.org/presentationml/2006/main">
  <p:cSld>
    <p:bg>
      <p:bgPr>
        <a:solidFill xmlns:a="http://schemas.openxmlformats.org/drawingml/2006/main">
          <a:srgbClr val="E0795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4AF4E4-8C88-4ADE-BBC8-E7F51BC99114}"/>
              </a:ext>
            </a:extLst>
          </p:cNvPr>
          <p:cNvSpPr>
            <a:spLocks xmlns:a="http://schemas.openxmlformats.org/drawingml/2006/main" noGrp="1"/>
          </p:cNvSpPr>
          <p:nvPr/>
        </p:nvSpPr>
        <p:spPr>
          <a:xfrm xmlns:a="http://schemas.openxmlformats.org/drawingml/2006/main">
            <a:off x="812800" y="2440941"/>
            <a:ext cx="120319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2A1310"/>
                </a:solidFill>
                <a:latin typeface="IBM Plex Sans"/>
                <a:ea typeface="IBM Plex Sans"/>
                <a:cs typeface="IBM Plex Sans"/>
              </a:rPr>
              <a:t>LIVE NOW</a:t>
            </a:r>
            <a:endParaRPr sz="1400"/>
          </a:p>
        </p:txBody>
      </p:sp>
      <p:sp>
        <p:nvSpPr>
          <p:cNvPr id="3" name="Text 1">
            <a:extLst xmlns:a="http://schemas.openxmlformats.org/drawingml/2006/main">
              <a:ext uri="{FF2B5EF4-FFF2-40B4-BE49-F238E27FC236}">
                <a16:creationId xmlns:a16="http://schemas.microsoft.com/office/drawing/2014/main" id="{9EA2E273-ECA1-47ED-84C6-82AEF61C2846}"/>
              </a:ext>
            </a:extLst>
          </p:cNvPr>
          <p:cNvSpPr>
            <a:spLocks xmlns:a="http://schemas.openxmlformats.org/drawingml/2006/main" noGrp="1"/>
          </p:cNvSpPr>
          <p:nvPr>
            <p:ph type="title" idx="0"/>
          </p:nvPr>
        </p:nvSpPr>
        <p:spPr>
          <a:xfrm xmlns:a="http://schemas.openxmlformats.org/drawingml/2006/main">
            <a:off x="812800" y="2842261"/>
            <a:ext cx="7650956" cy="8788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6720"/>
              </a:lnSpc>
              <a:buNone/>
            </a:pPr>
            <a:r>
              <a:rPr sz="6400" b="1" i="0">
                <a:solidFill>
                  <a:srgbClr val="2A1310"/>
                </a:solidFill>
                <a:latin typeface="Source Serif 4"/>
                <a:ea typeface="Source Serif 4"/>
                <a:cs typeface="Source Serif 4"/>
              </a:rPr>
              <a:t>Watch the relay.</a:t>
            </a:r>
            <a:endParaRPr sz="6400"/>
          </a:p>
        </p:txBody>
      </p:sp>
      <p:sp>
        <p:nvSpPr>
          <p:cNvPr id="4" name="Text 2">
            <a:extLst xmlns:a="http://schemas.openxmlformats.org/drawingml/2006/main">
              <a:ext uri="{FF2B5EF4-FFF2-40B4-BE49-F238E27FC236}">
                <a16:creationId xmlns:a16="http://schemas.microsoft.com/office/drawing/2014/main" id="{DC8BBABA-1145-4A83-8BE4-B7823975F716}"/>
              </a:ext>
            </a:extLst>
          </p:cNvPr>
          <p:cNvSpPr>
            <a:spLocks xmlns:a="http://schemas.openxmlformats.org/drawingml/2006/main" noGrp="1"/>
          </p:cNvSpPr>
          <p:nvPr/>
        </p:nvSpPr>
        <p:spPr>
          <a:xfrm xmlns:a="http://schemas.openxmlformats.org/drawingml/2006/main">
            <a:off x="812800" y="3848100"/>
            <a:ext cx="1088339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2240"/>
              </a:lnSpc>
              <a:buNone/>
            </a:pPr>
            <a:r>
              <a:rPr sz="1600">
                <a:solidFill>
                  <a:srgbClr val="3A1D10"/>
                </a:solidFill>
                <a:latin typeface="IBM Plex Sans"/>
                <a:ea typeface="IBM Plex Sans"/>
                <a:cs typeface="IBM Plex Sans"/>
              </a:rPr>
              <a:t>Evidence-ageing controls, shared-checkpoint impact, role-specific actions, independent recheck, overdue warnings, and a browser-local verification-history export.</a:t>
            </a:r>
            <a:endParaRPr sz="1600"/>
          </a:p>
        </p:txBody>
      </p:sp>
    </p:spTree>
    <p:extLst>
      <p:ext uri="{BB962C8B-B14F-4D97-AF65-F5344CB8AC3E}">
        <p14:creationId xmlns:p14="http://schemas.microsoft.com/office/powerpoint/2010/main" val="1631635048"/>
      </p:ext>
    </p:extLst>
  </p:cSld>
</p:sld>
</file>

<file path=ppt/slides/slide4.xml><?xml version="1.0" encoding="utf-8"?>
<p:sld xmlns:p="http://schemas.openxmlformats.org/presentationml/2006/main">
  <p:cSld>
    <p:bg>
      <p:bgPr>
        <a:solidFill xmlns:a="http://schemas.openxmlformats.org/drawingml/2006/main">
          <a:srgbClr val="FBF3E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5B1F5A5-E30B-4A58-B1FB-FA153F0D902F}"/>
              </a:ext>
            </a:extLst>
          </p:cNvPr>
          <p:cNvSpPr>
            <a:spLocks xmlns:a="http://schemas.openxmlformats.org/drawingml/2006/main" noGrp="1"/>
          </p:cNvSpPr>
          <p:nvPr/>
        </p:nvSpPr>
        <p:spPr>
          <a:xfrm xmlns:a="http://schemas.openxmlformats.org/drawingml/2006/main">
            <a:off x="812800" y="812800"/>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9C3E22"/>
                </a:solidFill>
                <a:latin typeface="IBM Plex Sans"/>
                <a:ea typeface="IBM Plex Sans"/>
                <a:cs typeface="IBM Plex Sans"/>
              </a:rPr>
              <a:t>HOW IT WORKS</a:t>
            </a:r>
            <a:endParaRPr sz="1400"/>
          </a:p>
        </p:txBody>
      </p:sp>
      <p:sp>
        <p:nvSpPr>
          <p:cNvPr id="3" name="Text 1">
            <a:extLst xmlns:a="http://schemas.openxmlformats.org/drawingml/2006/main">
              <a:ext uri="{FF2B5EF4-FFF2-40B4-BE49-F238E27FC236}">
                <a16:creationId xmlns:a16="http://schemas.microsoft.com/office/drawing/2014/main" id="{8AF47528-2293-4852-8BEA-6A2FD5A3CCB7}"/>
              </a:ext>
            </a:extLst>
          </p:cNvPr>
          <p:cNvSpPr>
            <a:spLocks xmlns:a="http://schemas.openxmlformats.org/drawingml/2006/main" noGrp="1"/>
          </p:cNvSpPr>
          <p:nvPr>
            <p:ph type="title" idx="0"/>
          </p:nvPr>
        </p:nvSpPr>
        <p:spPr>
          <a:xfrm xmlns:a="http://schemas.openxmlformats.org/drawingml/2006/main">
            <a:off x="812800" y="1315720"/>
            <a:ext cx="10883392" cy="463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450"/>
              </a:lnSpc>
              <a:buNone/>
            </a:pPr>
            <a:r>
              <a:rPr sz="3000" b="1" i="0">
                <a:solidFill>
                  <a:srgbClr val="3A2A22"/>
                </a:solidFill>
                <a:latin typeface="Source Serif 4"/>
                <a:ea typeface="Source Serif 4"/>
                <a:cs typeface="Source Serif 4"/>
              </a:rPr>
              <a:t>The Relay Rule: no actor closes their own leg.</a:t>
            </a:r>
            <a:endParaRPr sz="3000"/>
          </a:p>
        </p:txBody>
      </p:sp>
      <p:sp>
        <p:nvSpPr>
          <p:cNvPr id="4" name="Shape 2">
            <a:extLst xmlns:a="http://schemas.openxmlformats.org/drawingml/2006/main">
              <a:ext uri="{FF2B5EF4-FFF2-40B4-BE49-F238E27FC236}">
                <a16:creationId xmlns:a16="http://schemas.microsoft.com/office/drawing/2014/main" id="{156FEF33-56D9-4530-9135-BB1F8F6660D9}"/>
              </a:ext>
            </a:extLst>
          </p:cNvPr>
          <p:cNvSpPr>
            <a:spLocks xmlns:a="http://schemas.openxmlformats.org/drawingml/2006/main" noGrp="1"/>
          </p:cNvSpPr>
          <p:nvPr/>
        </p:nvSpPr>
        <p:spPr>
          <a:xfrm xmlns:a="http://schemas.openxmlformats.org/drawingml/2006/main">
            <a:off x="815975" y="2011045"/>
            <a:ext cx="1466850" cy="1014730"/>
          </a:xfrm>
          <a:prstGeom xmlns:a="http://schemas.openxmlformats.org/drawingml/2006/main" prst="roundRect">
            <a:avLst>
              <a:gd name="adj" fmla="val 9700"/>
            </a:avLst>
          </a:prstGeom>
          <a:solidFill xmlns:a="http://schemas.openxmlformats.org/drawingml/2006/main">
            <a:srgbClr val="FFFFFE"/>
          </a:solidFill>
          <a:ln xmlns:a="http://schemas.openxmlformats.org/drawingml/2006/main" w="6350">
            <a:solidFill>
              <a:srgbClr val="EFE0D1"/>
            </a:solidFill>
            <a:prstDash val="solid"/>
          </a:ln>
        </p:spPr>
      </p:sp>
      <p:sp>
        <p:nvSpPr>
          <p:cNvPr id="5" name="Text 3">
            <a:extLst xmlns:a="http://schemas.openxmlformats.org/drawingml/2006/main">
              <a:ext uri="{FF2B5EF4-FFF2-40B4-BE49-F238E27FC236}">
                <a16:creationId xmlns:a16="http://schemas.microsoft.com/office/drawing/2014/main" id="{AD66E633-7F86-4689-858A-AD573572E4B5}"/>
              </a:ext>
            </a:extLst>
          </p:cNvPr>
          <p:cNvSpPr>
            <a:spLocks xmlns:a="http://schemas.openxmlformats.org/drawingml/2006/main" noGrp="1"/>
          </p:cNvSpPr>
          <p:nvPr/>
        </p:nvSpPr>
        <p:spPr>
          <a:xfrm xmlns:a="http://schemas.openxmlformats.org/drawingml/2006/main">
            <a:off x="995680" y="2190750"/>
            <a:ext cx="1158240"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9C3E22"/>
                </a:solidFill>
                <a:latin typeface="IBM Plex Sans"/>
                <a:ea typeface="IBM Plex Sans"/>
                <a:cs typeface="IBM Plex Sans"/>
              </a:rPr>
              <a:t>Report</a:t>
            </a:r>
            <a:endParaRPr sz="1400"/>
          </a:p>
        </p:txBody>
      </p:sp>
      <p:sp>
        <p:nvSpPr>
          <p:cNvPr id="6" name="Text 4">
            <a:extLst xmlns:a="http://schemas.openxmlformats.org/drawingml/2006/main">
              <a:ext uri="{FF2B5EF4-FFF2-40B4-BE49-F238E27FC236}">
                <a16:creationId xmlns:a16="http://schemas.microsoft.com/office/drawing/2014/main" id="{6C858D1E-E9A2-4F89-92B6-DF6697435A88}"/>
              </a:ext>
            </a:extLst>
          </p:cNvPr>
          <p:cNvSpPr>
            <a:spLocks xmlns:a="http://schemas.openxmlformats.org/drawingml/2006/main" noGrp="1"/>
          </p:cNvSpPr>
          <p:nvPr/>
        </p:nvSpPr>
        <p:spPr>
          <a:xfrm xmlns:a="http://schemas.openxmlformats.org/drawingml/2006/main">
            <a:off x="995680" y="2454911"/>
            <a:ext cx="115824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40"/>
              </a:lnSpc>
              <a:buNone/>
            </a:pPr>
            <a:r>
              <a:rPr sz="1100">
                <a:solidFill>
                  <a:srgbClr val="5A4A3C"/>
                </a:solidFill>
                <a:latin typeface="IBM Plex Sans"/>
                <a:ea typeface="IBM Plex Sans"/>
                <a:cs typeface="IBM Plex Sans"/>
              </a:rPr>
              <a:t>Visitor flags a barrier</a:t>
            </a:r>
            <a:endParaRPr sz="1100"/>
          </a:p>
        </p:txBody>
      </p:sp>
      <p:pic>
        <p:nvPicPr>
          <p:cNvPr id="7" name="Image 0">
            <a:extLst xmlns:a="http://schemas.openxmlformats.org/drawingml/2006/main">
              <a:ext uri="{FF2B5EF4-FFF2-40B4-BE49-F238E27FC236}">
                <a16:creationId xmlns:a16="http://schemas.microsoft.com/office/drawing/2014/main" id="{21B22222-756D-45F1-BC9B-2EDA8B95D2C0}"/>
              </a:ext>
            </a:extLst>
          </p:cNvPr>
          <p:cNvPicPr>
            <a:picLocks xmlns:a="http://schemas.openxmlformats.org/drawingml/2006/main" noChangeAspect="1"/>
          </p:cNvPicPr>
          <p:nvPr/>
        </p:nvPicPr>
        <p:blipFill>
          <a:blip xmlns:r="http://schemas.openxmlformats.org/officeDocument/2006/relationships" xmlns:a="http://schemas.openxmlformats.org/drawingml/2006/main" r:embed="R1bced00c628a42de"/>
          <a:srcRect xmlns:a="http://schemas.openxmlformats.org/drawingml/2006/main" l="0" t="0" r="0" b="0"/>
          <a:stretch xmlns:a="http://schemas.openxmlformats.org/drawingml/2006/main"/>
        </p:blipFill>
        <p:spPr>
          <a:xfrm xmlns:a="http://schemas.openxmlformats.org/drawingml/2006/main">
            <a:off x="2387600" y="2429511"/>
            <a:ext cx="304800" cy="1778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47F843D9-DA59-4D8C-8AA5-1E965ABE7441}"/>
              </a:ext>
            </a:extLst>
          </p:cNvPr>
          <p:cNvSpPr>
            <a:spLocks xmlns:a="http://schemas.openxmlformats.org/drawingml/2006/main" noGrp="1"/>
          </p:cNvSpPr>
          <p:nvPr/>
        </p:nvSpPr>
        <p:spPr>
          <a:xfrm xmlns:a="http://schemas.openxmlformats.org/drawingml/2006/main">
            <a:off x="2797175" y="2011045"/>
            <a:ext cx="1466850" cy="1014730"/>
          </a:xfrm>
          <a:prstGeom xmlns:a="http://schemas.openxmlformats.org/drawingml/2006/main" prst="roundRect">
            <a:avLst>
              <a:gd name="adj" fmla="val 9700"/>
            </a:avLst>
          </a:prstGeom>
          <a:solidFill xmlns:a="http://schemas.openxmlformats.org/drawingml/2006/main">
            <a:srgbClr val="FFFFFE"/>
          </a:solidFill>
          <a:ln xmlns:a="http://schemas.openxmlformats.org/drawingml/2006/main" w="6350">
            <a:solidFill>
              <a:srgbClr val="EFE0D1"/>
            </a:solidFill>
            <a:prstDash val="solid"/>
          </a:ln>
        </p:spPr>
      </p:sp>
      <p:sp>
        <p:nvSpPr>
          <p:cNvPr id="9" name="Text 6">
            <a:extLst xmlns:a="http://schemas.openxmlformats.org/drawingml/2006/main">
              <a:ext uri="{FF2B5EF4-FFF2-40B4-BE49-F238E27FC236}">
                <a16:creationId xmlns:a16="http://schemas.microsoft.com/office/drawing/2014/main" id="{02769F84-024E-40E6-8F9F-2595D6AD4B4E}"/>
              </a:ext>
            </a:extLst>
          </p:cNvPr>
          <p:cNvSpPr>
            <a:spLocks xmlns:a="http://schemas.openxmlformats.org/drawingml/2006/main" noGrp="1"/>
          </p:cNvSpPr>
          <p:nvPr/>
        </p:nvSpPr>
        <p:spPr>
          <a:xfrm xmlns:a="http://schemas.openxmlformats.org/drawingml/2006/main">
            <a:off x="2976880" y="2190750"/>
            <a:ext cx="1158240"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9C3E22"/>
                </a:solidFill>
                <a:latin typeface="IBM Plex Sans"/>
                <a:ea typeface="IBM Plex Sans"/>
                <a:cs typeface="IBM Plex Sans"/>
              </a:rPr>
              <a:t>Blocked</a:t>
            </a:r>
            <a:endParaRPr sz="1400"/>
          </a:p>
        </p:txBody>
      </p:sp>
      <p:sp>
        <p:nvSpPr>
          <p:cNvPr id="10" name="Text 7">
            <a:extLst xmlns:a="http://schemas.openxmlformats.org/drawingml/2006/main">
              <a:ext uri="{FF2B5EF4-FFF2-40B4-BE49-F238E27FC236}">
                <a16:creationId xmlns:a16="http://schemas.microsoft.com/office/drawing/2014/main" id="{07974F1E-9A6C-42D1-886B-AB429C27EDA8}"/>
              </a:ext>
            </a:extLst>
          </p:cNvPr>
          <p:cNvSpPr>
            <a:spLocks xmlns:a="http://schemas.openxmlformats.org/drawingml/2006/main" noGrp="1"/>
          </p:cNvSpPr>
          <p:nvPr/>
        </p:nvSpPr>
        <p:spPr>
          <a:xfrm xmlns:a="http://schemas.openxmlformats.org/drawingml/2006/main">
            <a:off x="2976880" y="2454911"/>
            <a:ext cx="115824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40"/>
              </a:lnSpc>
              <a:buNone/>
            </a:pPr>
            <a:r>
              <a:rPr sz="1100">
                <a:solidFill>
                  <a:srgbClr val="5A4A3C"/>
                </a:solidFill>
                <a:latin typeface="IBM Plex Sans"/>
                <a:ea typeface="IBM Plex Sans"/>
                <a:cs typeface="IBM Plex Sans"/>
              </a:rPr>
              <a:t>Stays open, no expiry</a:t>
            </a:r>
            <a:endParaRPr sz="1100"/>
          </a:p>
        </p:txBody>
      </p:sp>
      <p:pic>
        <p:nvPicPr>
          <p:cNvPr id="11" name="Image 1">
            <a:extLst xmlns:a="http://schemas.openxmlformats.org/drawingml/2006/main">
              <a:ext uri="{FF2B5EF4-FFF2-40B4-BE49-F238E27FC236}">
                <a16:creationId xmlns:a16="http://schemas.microsoft.com/office/drawing/2014/main" id="{66537969-EFF5-4C06-892B-8E6F55ED4584}"/>
              </a:ext>
            </a:extLst>
          </p:cNvPr>
          <p:cNvPicPr>
            <a:picLocks xmlns:a="http://schemas.openxmlformats.org/drawingml/2006/main" noChangeAspect="1"/>
          </p:cNvPicPr>
          <p:nvPr/>
        </p:nvPicPr>
        <p:blipFill>
          <a:blip xmlns:r="http://schemas.openxmlformats.org/officeDocument/2006/relationships" xmlns:a="http://schemas.openxmlformats.org/drawingml/2006/main" r:embed="Rdb51585bb4af4385"/>
          <a:srcRect xmlns:a="http://schemas.openxmlformats.org/drawingml/2006/main" l="0" t="0" r="0" b="0"/>
          <a:stretch xmlns:a="http://schemas.openxmlformats.org/drawingml/2006/main"/>
        </p:blipFill>
        <p:spPr>
          <a:xfrm xmlns:a="http://schemas.openxmlformats.org/drawingml/2006/main">
            <a:off x="4368800" y="2429511"/>
            <a:ext cx="304800" cy="177800"/>
          </a:xfrm>
          <a:prstGeom xmlns:a="http://schemas.openxmlformats.org/drawingml/2006/main" prst="rect">
            <a:avLst/>
          </a:prstGeom>
        </p:spPr>
      </p:pic>
      <p:sp>
        <p:nvSpPr>
          <p:cNvPr id="12" name="Shape 8">
            <a:extLst xmlns:a="http://schemas.openxmlformats.org/drawingml/2006/main">
              <a:ext uri="{FF2B5EF4-FFF2-40B4-BE49-F238E27FC236}">
                <a16:creationId xmlns:a16="http://schemas.microsoft.com/office/drawing/2014/main" id="{CCAB20B7-4EFA-433C-8CCA-6B4DD9CFF1FB}"/>
              </a:ext>
            </a:extLst>
          </p:cNvPr>
          <p:cNvSpPr>
            <a:spLocks xmlns:a="http://schemas.openxmlformats.org/drawingml/2006/main" noGrp="1"/>
          </p:cNvSpPr>
          <p:nvPr/>
        </p:nvSpPr>
        <p:spPr>
          <a:xfrm xmlns:a="http://schemas.openxmlformats.org/drawingml/2006/main">
            <a:off x="4778375" y="2011045"/>
            <a:ext cx="1466850" cy="1014730"/>
          </a:xfrm>
          <a:prstGeom xmlns:a="http://schemas.openxmlformats.org/drawingml/2006/main" prst="roundRect">
            <a:avLst>
              <a:gd name="adj" fmla="val 9700"/>
            </a:avLst>
          </a:prstGeom>
          <a:solidFill xmlns:a="http://schemas.openxmlformats.org/drawingml/2006/main">
            <a:srgbClr val="FFFFFE"/>
          </a:solidFill>
          <a:ln xmlns:a="http://schemas.openxmlformats.org/drawingml/2006/main" w="6350">
            <a:solidFill>
              <a:srgbClr val="EFE0D1"/>
            </a:solidFill>
            <a:prstDash val="solid"/>
          </a:ln>
        </p:spPr>
      </p:sp>
      <p:sp>
        <p:nvSpPr>
          <p:cNvPr id="13" name="Text 9">
            <a:extLst xmlns:a="http://schemas.openxmlformats.org/drawingml/2006/main">
              <a:ext uri="{FF2B5EF4-FFF2-40B4-BE49-F238E27FC236}">
                <a16:creationId xmlns:a16="http://schemas.microsoft.com/office/drawing/2014/main" id="{9235B762-C73B-4A99-A9D0-ECE592FD3D26}"/>
              </a:ext>
            </a:extLst>
          </p:cNvPr>
          <p:cNvSpPr>
            <a:spLocks xmlns:a="http://schemas.openxmlformats.org/drawingml/2006/main" noGrp="1"/>
          </p:cNvSpPr>
          <p:nvPr/>
        </p:nvSpPr>
        <p:spPr>
          <a:xfrm xmlns:a="http://schemas.openxmlformats.org/drawingml/2006/main">
            <a:off x="4958080" y="2190750"/>
            <a:ext cx="1158240"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9C3E22"/>
                </a:solidFill>
                <a:latin typeface="IBM Plex Sans"/>
                <a:ea typeface="IBM Plex Sans"/>
                <a:cs typeface="IBM Plex Sans"/>
              </a:rPr>
              <a:t>Claim</a:t>
            </a:r>
            <a:endParaRPr sz="1400"/>
          </a:p>
        </p:txBody>
      </p:sp>
      <p:sp>
        <p:nvSpPr>
          <p:cNvPr id="14" name="Text 10">
            <a:extLst xmlns:a="http://schemas.openxmlformats.org/drawingml/2006/main">
              <a:ext uri="{FF2B5EF4-FFF2-40B4-BE49-F238E27FC236}">
                <a16:creationId xmlns:a16="http://schemas.microsoft.com/office/drawing/2014/main" id="{53F79BE5-B7CC-480E-ADE4-9DDB026FE3C1}"/>
              </a:ext>
            </a:extLst>
          </p:cNvPr>
          <p:cNvSpPr>
            <a:spLocks xmlns:a="http://schemas.openxmlformats.org/drawingml/2006/main" noGrp="1"/>
          </p:cNvSpPr>
          <p:nvPr/>
        </p:nvSpPr>
        <p:spPr>
          <a:xfrm xmlns:a="http://schemas.openxmlformats.org/drawingml/2006/main">
            <a:off x="4958080" y="2454911"/>
            <a:ext cx="115824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40"/>
              </a:lnSpc>
              <a:buNone/>
            </a:pPr>
            <a:r>
              <a:rPr sz="1100">
                <a:solidFill>
                  <a:srgbClr val="5A4A3C"/>
                </a:solidFill>
                <a:latin typeface="IBM Plex Sans"/>
                <a:ea typeface="IBM Plex Sans"/>
                <a:cs typeface="IBM Plex Sans"/>
              </a:rPr>
              <a:t>Staff claims the fix</a:t>
            </a:r>
            <a:endParaRPr sz="1100"/>
          </a:p>
        </p:txBody>
      </p:sp>
      <p:pic>
        <p:nvPicPr>
          <p:cNvPr id="15" name="Image 2">
            <a:extLst xmlns:a="http://schemas.openxmlformats.org/drawingml/2006/main">
              <a:ext uri="{FF2B5EF4-FFF2-40B4-BE49-F238E27FC236}">
                <a16:creationId xmlns:a16="http://schemas.microsoft.com/office/drawing/2014/main" id="{13D35E77-2D29-4856-BA6D-214EF7D32842}"/>
              </a:ext>
            </a:extLst>
          </p:cNvPr>
          <p:cNvPicPr>
            <a:picLocks xmlns:a="http://schemas.openxmlformats.org/drawingml/2006/main" noChangeAspect="1"/>
          </p:cNvPicPr>
          <p:nvPr/>
        </p:nvPicPr>
        <p:blipFill>
          <a:blip xmlns:r="http://schemas.openxmlformats.org/officeDocument/2006/relationships" xmlns:a="http://schemas.openxmlformats.org/drawingml/2006/main" r:embed="R05210bed2155495b"/>
          <a:srcRect xmlns:a="http://schemas.openxmlformats.org/drawingml/2006/main" l="0" t="0" r="0" b="0"/>
          <a:stretch xmlns:a="http://schemas.openxmlformats.org/drawingml/2006/main"/>
        </p:blipFill>
        <p:spPr>
          <a:xfrm xmlns:a="http://schemas.openxmlformats.org/drawingml/2006/main">
            <a:off x="6350000" y="2429511"/>
            <a:ext cx="304800" cy="177800"/>
          </a:xfrm>
          <a:prstGeom xmlns:a="http://schemas.openxmlformats.org/drawingml/2006/main" prst="rect">
            <a:avLst/>
          </a:prstGeom>
        </p:spPr>
      </p:pic>
      <p:sp>
        <p:nvSpPr>
          <p:cNvPr id="16" name="Shape 11">
            <a:extLst xmlns:a="http://schemas.openxmlformats.org/drawingml/2006/main">
              <a:ext uri="{FF2B5EF4-FFF2-40B4-BE49-F238E27FC236}">
                <a16:creationId xmlns:a16="http://schemas.microsoft.com/office/drawing/2014/main" id="{E48BB45C-1C65-43A0-91A1-68DC7C96D1C6}"/>
              </a:ext>
            </a:extLst>
          </p:cNvPr>
          <p:cNvSpPr>
            <a:spLocks xmlns:a="http://schemas.openxmlformats.org/drawingml/2006/main" noGrp="1"/>
          </p:cNvSpPr>
          <p:nvPr/>
        </p:nvSpPr>
        <p:spPr>
          <a:xfrm xmlns:a="http://schemas.openxmlformats.org/drawingml/2006/main">
            <a:off x="6759575" y="2108836"/>
            <a:ext cx="1466850" cy="819150"/>
          </a:xfrm>
          <a:prstGeom xmlns:a="http://schemas.openxmlformats.org/drawingml/2006/main" prst="roundRect">
            <a:avLst>
              <a:gd name="adj" fmla="val 12016"/>
            </a:avLst>
          </a:prstGeom>
          <a:solidFill xmlns:a="http://schemas.openxmlformats.org/drawingml/2006/main">
            <a:srgbClr val="FFFFFE"/>
          </a:solidFill>
          <a:ln xmlns:a="http://schemas.openxmlformats.org/drawingml/2006/main" w="6350">
            <a:solidFill>
              <a:srgbClr val="EFE0D1"/>
            </a:solidFill>
            <a:prstDash val="solid"/>
          </a:ln>
        </p:spPr>
      </p:sp>
      <p:sp>
        <p:nvSpPr>
          <p:cNvPr id="17" name="Text 12">
            <a:extLst xmlns:a="http://schemas.openxmlformats.org/drawingml/2006/main">
              <a:ext uri="{FF2B5EF4-FFF2-40B4-BE49-F238E27FC236}">
                <a16:creationId xmlns:a16="http://schemas.microsoft.com/office/drawing/2014/main" id="{212A8A54-31A4-4C5E-B9F9-7FDB7185531E}"/>
              </a:ext>
            </a:extLst>
          </p:cNvPr>
          <p:cNvSpPr>
            <a:spLocks xmlns:a="http://schemas.openxmlformats.org/drawingml/2006/main" noGrp="1"/>
          </p:cNvSpPr>
          <p:nvPr/>
        </p:nvSpPr>
        <p:spPr>
          <a:xfrm xmlns:a="http://schemas.openxmlformats.org/drawingml/2006/main">
            <a:off x="6939280" y="2288541"/>
            <a:ext cx="1158240"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9C3E22"/>
                </a:solidFill>
                <a:latin typeface="IBM Plex Sans"/>
                <a:ea typeface="IBM Plex Sans"/>
                <a:cs typeface="IBM Plex Sans"/>
              </a:rPr>
              <a:t>Pending</a:t>
            </a:r>
            <a:endParaRPr sz="1400"/>
          </a:p>
        </p:txBody>
      </p:sp>
      <p:sp>
        <p:nvSpPr>
          <p:cNvPr id="18" name="Text 13">
            <a:extLst xmlns:a="http://schemas.openxmlformats.org/drawingml/2006/main">
              <a:ext uri="{FF2B5EF4-FFF2-40B4-BE49-F238E27FC236}">
                <a16:creationId xmlns:a16="http://schemas.microsoft.com/office/drawing/2014/main" id="{6934AFA0-F0EF-4EA5-9709-4A7E653C6D61}"/>
              </a:ext>
            </a:extLst>
          </p:cNvPr>
          <p:cNvSpPr>
            <a:spLocks xmlns:a="http://schemas.openxmlformats.org/drawingml/2006/main" noGrp="1"/>
          </p:cNvSpPr>
          <p:nvPr/>
        </p:nvSpPr>
        <p:spPr>
          <a:xfrm xmlns:a="http://schemas.openxmlformats.org/drawingml/2006/main">
            <a:off x="6939280" y="2552700"/>
            <a:ext cx="1158240" cy="2209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40"/>
              </a:lnSpc>
              <a:buNone/>
            </a:pPr>
            <a:r>
              <a:rPr sz="1100">
                <a:solidFill>
                  <a:srgbClr val="5A4A3C"/>
                </a:solidFill>
                <a:latin typeface="IBM Plex Sans"/>
                <a:ea typeface="IBM Plex Sans"/>
                <a:cs typeface="IBM Plex Sans"/>
              </a:rPr>
              <a:t>Not closed yet</a:t>
            </a:r>
            <a:endParaRPr sz="1100"/>
          </a:p>
        </p:txBody>
      </p:sp>
      <p:pic>
        <p:nvPicPr>
          <p:cNvPr id="19" name="Image 3">
            <a:extLst xmlns:a="http://schemas.openxmlformats.org/drawingml/2006/main">
              <a:ext uri="{FF2B5EF4-FFF2-40B4-BE49-F238E27FC236}">
                <a16:creationId xmlns:a16="http://schemas.microsoft.com/office/drawing/2014/main" id="{D597765F-00C6-4796-8222-E9772CC09792}"/>
              </a:ext>
            </a:extLst>
          </p:cNvPr>
          <p:cNvPicPr>
            <a:picLocks xmlns:a="http://schemas.openxmlformats.org/drawingml/2006/main" noChangeAspect="1"/>
          </p:cNvPicPr>
          <p:nvPr/>
        </p:nvPicPr>
        <p:blipFill>
          <a:blip xmlns:r="http://schemas.openxmlformats.org/officeDocument/2006/relationships" xmlns:a="http://schemas.openxmlformats.org/drawingml/2006/main" r:embed="R4c3d8b593971479d"/>
          <a:srcRect xmlns:a="http://schemas.openxmlformats.org/drawingml/2006/main" l="0" t="0" r="0" b="0"/>
          <a:stretch xmlns:a="http://schemas.openxmlformats.org/drawingml/2006/main"/>
        </p:blipFill>
        <p:spPr>
          <a:xfrm xmlns:a="http://schemas.openxmlformats.org/drawingml/2006/main">
            <a:off x="8331200" y="2429511"/>
            <a:ext cx="304800" cy="177800"/>
          </a:xfrm>
          <a:prstGeom xmlns:a="http://schemas.openxmlformats.org/drawingml/2006/main" prst="rect">
            <a:avLst/>
          </a:prstGeom>
        </p:spPr>
      </p:pic>
      <p:sp>
        <p:nvSpPr>
          <p:cNvPr id="20" name="Shape 14">
            <a:extLst xmlns:a="http://schemas.openxmlformats.org/drawingml/2006/main">
              <a:ext uri="{FF2B5EF4-FFF2-40B4-BE49-F238E27FC236}">
                <a16:creationId xmlns:a16="http://schemas.microsoft.com/office/drawing/2014/main" id="{ECAECC32-A88E-4C04-A89B-EFEA40A87514}"/>
              </a:ext>
            </a:extLst>
          </p:cNvPr>
          <p:cNvSpPr>
            <a:spLocks xmlns:a="http://schemas.openxmlformats.org/drawingml/2006/main" noGrp="1"/>
          </p:cNvSpPr>
          <p:nvPr/>
        </p:nvSpPr>
        <p:spPr>
          <a:xfrm xmlns:a="http://schemas.openxmlformats.org/drawingml/2006/main">
            <a:off x="8740775" y="2011045"/>
            <a:ext cx="1466850" cy="1014730"/>
          </a:xfrm>
          <a:prstGeom xmlns:a="http://schemas.openxmlformats.org/drawingml/2006/main" prst="roundRect">
            <a:avLst>
              <a:gd name="adj" fmla="val 9700"/>
            </a:avLst>
          </a:prstGeom>
          <a:solidFill xmlns:a="http://schemas.openxmlformats.org/drawingml/2006/main">
            <a:srgbClr val="FFFFFE"/>
          </a:solidFill>
          <a:ln xmlns:a="http://schemas.openxmlformats.org/drawingml/2006/main" w="6350">
            <a:solidFill>
              <a:srgbClr val="EFE0D1"/>
            </a:solidFill>
            <a:prstDash val="solid"/>
          </a:ln>
        </p:spPr>
      </p:sp>
      <p:sp>
        <p:nvSpPr>
          <p:cNvPr id="21" name="Text 15">
            <a:extLst xmlns:a="http://schemas.openxmlformats.org/drawingml/2006/main">
              <a:ext uri="{FF2B5EF4-FFF2-40B4-BE49-F238E27FC236}">
                <a16:creationId xmlns:a16="http://schemas.microsoft.com/office/drawing/2014/main" id="{4CDC3F99-0535-4E05-9D45-C1835D2E152B}"/>
              </a:ext>
            </a:extLst>
          </p:cNvPr>
          <p:cNvSpPr>
            <a:spLocks xmlns:a="http://schemas.openxmlformats.org/drawingml/2006/main" noGrp="1"/>
          </p:cNvSpPr>
          <p:nvPr/>
        </p:nvSpPr>
        <p:spPr>
          <a:xfrm xmlns:a="http://schemas.openxmlformats.org/drawingml/2006/main">
            <a:off x="8920480" y="2190750"/>
            <a:ext cx="1158240"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9C3E22"/>
                </a:solidFill>
                <a:latin typeface="IBM Plex Sans"/>
                <a:ea typeface="IBM Plex Sans"/>
                <a:cs typeface="IBM Plex Sans"/>
              </a:rPr>
              <a:t>Recheck</a:t>
            </a:r>
            <a:endParaRPr sz="1400"/>
          </a:p>
        </p:txBody>
      </p:sp>
      <p:sp>
        <p:nvSpPr>
          <p:cNvPr id="22" name="Text 16">
            <a:extLst xmlns:a="http://schemas.openxmlformats.org/drawingml/2006/main">
              <a:ext uri="{FF2B5EF4-FFF2-40B4-BE49-F238E27FC236}">
                <a16:creationId xmlns:a16="http://schemas.microsoft.com/office/drawing/2014/main" id="{39CBF4F1-C5AE-4352-BDAD-4F55A77891E1}"/>
              </a:ext>
            </a:extLst>
          </p:cNvPr>
          <p:cNvSpPr>
            <a:spLocks xmlns:a="http://schemas.openxmlformats.org/drawingml/2006/main" noGrp="1"/>
          </p:cNvSpPr>
          <p:nvPr/>
        </p:nvSpPr>
        <p:spPr>
          <a:xfrm xmlns:a="http://schemas.openxmlformats.org/drawingml/2006/main">
            <a:off x="8920480" y="2454911"/>
            <a:ext cx="115824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40"/>
              </a:lnSpc>
              <a:buNone/>
            </a:pPr>
            <a:r>
              <a:rPr sz="1100">
                <a:solidFill>
                  <a:srgbClr val="5A4A3C"/>
                </a:solidFill>
                <a:latin typeface="IBM Plex Sans"/>
                <a:ea typeface="IBM Plex Sans"/>
                <a:cs typeface="IBM Plex Sans"/>
              </a:rPr>
              <a:t>A different reviewer</a:t>
            </a:r>
            <a:endParaRPr sz="1100"/>
          </a:p>
        </p:txBody>
      </p:sp>
      <p:sp>
        <p:nvSpPr>
          <p:cNvPr id="23" name="Text 17">
            <a:extLst xmlns:a="http://schemas.openxmlformats.org/drawingml/2006/main">
              <a:ext uri="{FF2B5EF4-FFF2-40B4-BE49-F238E27FC236}">
                <a16:creationId xmlns:a16="http://schemas.microsoft.com/office/drawing/2014/main" id="{B959450E-8F26-455D-86B9-B5DA308BD407}"/>
              </a:ext>
            </a:extLst>
          </p:cNvPr>
          <p:cNvSpPr>
            <a:spLocks xmlns:a="http://schemas.openxmlformats.org/drawingml/2006/main" noGrp="1"/>
          </p:cNvSpPr>
          <p:nvPr/>
        </p:nvSpPr>
        <p:spPr>
          <a:xfrm xmlns:a="http://schemas.openxmlformats.org/drawingml/2006/main">
            <a:off x="812800" y="3282950"/>
            <a:ext cx="10883392" cy="596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50"/>
              </a:lnSpc>
              <a:buNone/>
            </a:pPr>
            <a:r>
              <a:rPr sz="1500" b="1">
                <a:solidFill>
                  <a:srgbClr val="3A2A22"/>
                </a:solidFill>
                <a:latin typeface="IBM Plex Sans"/>
                <a:ea typeface="IBM Plex Sans"/>
                <a:cs typeface="IBM Plex Sans"/>
              </a:rPr>
              <a:t>The claiming actor can never verify their own claim.</a:t>
            </a:r>
            <a:r>
              <a:rPr sz="1500">
                <a:solidFill>
                  <a:srgbClr val="3A2A22"/>
                </a:solidFill>
                <a:latin typeface="IBM Plex Sans"/>
                <a:ea typeface="IBM Plex Sans"/>
                <a:cs typeface="IBM Plex Sans"/>
              </a:rPr>
              <a:t> A passed recheck clears the segment and starts a fresh countdown to stale. A failed recheck reopens it as blocked. Nobody can let a claim sit forever and have it count as fixed.</a:t>
            </a:r>
            <a:endParaRPr sz="1500"/>
          </a:p>
        </p:txBody>
      </p:sp>
      <p:sp>
        <p:nvSpPr>
          <p:cNvPr id="24" name="Text 18">
            <a:extLst xmlns:a="http://schemas.openxmlformats.org/drawingml/2006/main">
              <a:ext uri="{FF2B5EF4-FFF2-40B4-BE49-F238E27FC236}">
                <a16:creationId xmlns:a16="http://schemas.microsoft.com/office/drawing/2014/main" id="{EAB9E3A5-6D5B-4912-8E5F-7ED8B04D01FB}"/>
              </a:ext>
            </a:extLst>
          </p:cNvPr>
          <p:cNvSpPr>
            <a:spLocks xmlns:a="http://schemas.openxmlformats.org/drawingml/2006/main" noGrp="1"/>
          </p:cNvSpPr>
          <p:nvPr/>
        </p:nvSpPr>
        <p:spPr>
          <a:xfrm xmlns:a="http://schemas.openxmlformats.org/drawingml/2006/main">
            <a:off x="812800" y="6238239"/>
            <a:ext cx="5009102"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A7265"/>
                </a:solidFill>
                <a:latin typeface="IBM Plex Sans"/>
                <a:ea typeface="IBM Plex Sans"/>
                <a:cs typeface="IBM Plex Sans"/>
              </a:rPr>
              <a:t>domain.js: pure functions, zero DOM, tested, not just demoed</a:t>
            </a:r>
            <a:endParaRPr sz="1200"/>
          </a:p>
        </p:txBody>
      </p:sp>
    </p:spTree>
    <p:extLst>
      <p:ext uri="{BB962C8B-B14F-4D97-AF65-F5344CB8AC3E}">
        <p14:creationId xmlns:p14="http://schemas.microsoft.com/office/powerpoint/2010/main" val="934574017"/>
      </p:ext>
    </p:extLst>
  </p:cSld>
</p:sld>
</file>

<file path=ppt/slides/slide5.xml><?xml version="1.0" encoding="utf-8"?>
<p:sld xmlns:p="http://schemas.openxmlformats.org/presentationml/2006/main">
  <p:cSld>
    <p:bg>
      <p:bgPr>
        <a:solidFill xmlns:a="http://schemas.openxmlformats.org/drawingml/2006/main">
          <a:srgbClr val="F3E4D7"/>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080825-A3B1-4C31-896E-EB458A431CD3}"/>
              </a:ext>
            </a:extLst>
          </p:cNvPr>
          <p:cNvSpPr>
            <a:spLocks xmlns:a="http://schemas.openxmlformats.org/drawingml/2006/main" noGrp="1"/>
          </p:cNvSpPr>
          <p:nvPr/>
        </p:nvSpPr>
        <p:spPr>
          <a:xfrm xmlns:a="http://schemas.openxmlformats.org/drawingml/2006/main">
            <a:off x="812800" y="812800"/>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9C3E22"/>
                </a:solidFill>
                <a:latin typeface="IBM Plex Sans"/>
                <a:ea typeface="IBM Plex Sans"/>
                <a:cs typeface="IBM Plex Sans"/>
              </a:rPr>
              <a:t>IMPACT, HONESTLY MEASURED</a:t>
            </a:r>
            <a:endParaRPr sz="1400"/>
          </a:p>
        </p:txBody>
      </p:sp>
      <p:sp>
        <p:nvSpPr>
          <p:cNvPr id="3" name="Text 1">
            <a:extLst xmlns:a="http://schemas.openxmlformats.org/drawingml/2006/main">
              <a:ext uri="{FF2B5EF4-FFF2-40B4-BE49-F238E27FC236}">
                <a16:creationId xmlns:a16="http://schemas.microsoft.com/office/drawing/2014/main" id="{CEF13747-D639-483C-90D8-E6618FCA62EA}"/>
              </a:ext>
            </a:extLst>
          </p:cNvPr>
          <p:cNvSpPr>
            <a:spLocks xmlns:a="http://schemas.openxmlformats.org/drawingml/2006/main" noGrp="1"/>
          </p:cNvSpPr>
          <p:nvPr>
            <p:ph type="title" idx="0"/>
          </p:nvPr>
        </p:nvSpPr>
        <p:spPr>
          <a:xfrm xmlns:a="http://schemas.openxmlformats.org/drawingml/2006/main">
            <a:off x="812800" y="1315721"/>
            <a:ext cx="10883392" cy="463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450"/>
              </a:lnSpc>
              <a:buNone/>
            </a:pPr>
            <a:r>
              <a:rPr sz="3000" b="1" i="0">
                <a:solidFill>
                  <a:srgbClr val="3A2A22"/>
                </a:solidFill>
                <a:latin typeface="Source Serif 4"/>
                <a:ea typeface="Source Serif 4"/>
                <a:cs typeface="Source Serif 4"/>
              </a:rPr>
              <a:t>Three honest signals, not a green checkmark.</a:t>
            </a:r>
            <a:endParaRPr sz="3000"/>
          </a:p>
        </p:txBody>
      </p:sp>
      <p:sp>
        <p:nvSpPr>
          <p:cNvPr id="4" name="Shape 2">
            <a:extLst xmlns:a="http://schemas.openxmlformats.org/drawingml/2006/main">
              <a:ext uri="{FF2B5EF4-FFF2-40B4-BE49-F238E27FC236}">
                <a16:creationId xmlns:a16="http://schemas.microsoft.com/office/drawing/2014/main" id="{55E60E1F-69B2-41B9-8413-8AD10C4C8B2B}"/>
              </a:ext>
            </a:extLst>
          </p:cNvPr>
          <p:cNvSpPr>
            <a:spLocks xmlns:a="http://schemas.openxmlformats.org/drawingml/2006/main" noGrp="1"/>
          </p:cNvSpPr>
          <p:nvPr/>
        </p:nvSpPr>
        <p:spPr>
          <a:xfrm xmlns:a="http://schemas.openxmlformats.org/drawingml/2006/main">
            <a:off x="815975" y="2011046"/>
            <a:ext cx="3380264" cy="1192530"/>
          </a:xfrm>
          <a:prstGeom xmlns:a="http://schemas.openxmlformats.org/drawingml/2006/main" prst="roundRect">
            <a:avLst>
              <a:gd name="adj" fmla="val 8253"/>
            </a:avLst>
          </a:prstGeom>
          <a:solidFill xmlns:a="http://schemas.openxmlformats.org/drawingml/2006/main">
            <a:srgbClr val="FFFFFE"/>
          </a:solidFill>
          <a:ln xmlns:a="http://schemas.openxmlformats.org/drawingml/2006/main" w="6350">
            <a:solidFill>
              <a:srgbClr val="E7D3C0"/>
            </a:solidFill>
            <a:prstDash val="solid"/>
          </a:ln>
        </p:spPr>
      </p:sp>
      <p:sp>
        <p:nvSpPr>
          <p:cNvPr id="5" name="Text 3">
            <a:extLst xmlns:a="http://schemas.openxmlformats.org/drawingml/2006/main">
              <a:ext uri="{FF2B5EF4-FFF2-40B4-BE49-F238E27FC236}">
                <a16:creationId xmlns:a16="http://schemas.microsoft.com/office/drawing/2014/main" id="{86223B3C-B921-4AFC-A77F-03F142D7199E}"/>
              </a:ext>
            </a:extLst>
          </p:cNvPr>
          <p:cNvSpPr>
            <a:spLocks xmlns:a="http://schemas.openxmlformats.org/drawingml/2006/main" noGrp="1"/>
          </p:cNvSpPr>
          <p:nvPr/>
        </p:nvSpPr>
        <p:spPr>
          <a:xfrm xmlns:a="http://schemas.openxmlformats.org/drawingml/2006/main">
            <a:off x="1046480" y="2241550"/>
            <a:ext cx="3006831"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9C3E22"/>
                </a:solidFill>
                <a:latin typeface="IBM Plex Sans"/>
                <a:ea typeface="IBM Plex Sans"/>
                <a:cs typeface="IBM Plex Sans"/>
              </a:rPr>
              <a:t>Currently trustworthy</a:t>
            </a:r>
            <a:endParaRPr sz="1500"/>
          </a:p>
        </p:txBody>
      </p:sp>
      <p:sp>
        <p:nvSpPr>
          <p:cNvPr id="6" name="Text 4">
            <a:extLst xmlns:a="http://schemas.openxmlformats.org/drawingml/2006/main">
              <a:ext uri="{FF2B5EF4-FFF2-40B4-BE49-F238E27FC236}">
                <a16:creationId xmlns:a16="http://schemas.microsoft.com/office/drawing/2014/main" id="{005D3B02-FEC5-48A3-8402-A9776C949B97}"/>
              </a:ext>
            </a:extLst>
          </p:cNvPr>
          <p:cNvSpPr>
            <a:spLocks xmlns:a="http://schemas.openxmlformats.org/drawingml/2006/main" noGrp="1"/>
          </p:cNvSpPr>
          <p:nvPr/>
        </p:nvSpPr>
        <p:spPr>
          <a:xfrm xmlns:a="http://schemas.openxmlformats.org/drawingml/2006/main">
            <a:off x="1046480" y="2546350"/>
            <a:ext cx="3006831"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Journeys with every segment clear and inside its freshness window</a:t>
            </a:r>
            <a:endParaRPr sz="1200"/>
          </a:p>
        </p:txBody>
      </p:sp>
      <p:sp>
        <p:nvSpPr>
          <p:cNvPr id="7" name="Shape 5">
            <a:extLst xmlns:a="http://schemas.openxmlformats.org/drawingml/2006/main">
              <a:ext uri="{FF2B5EF4-FFF2-40B4-BE49-F238E27FC236}">
                <a16:creationId xmlns:a16="http://schemas.microsoft.com/office/drawing/2014/main" id="{E541D218-191A-48F5-8133-C67655132958}"/>
              </a:ext>
            </a:extLst>
          </p:cNvPr>
          <p:cNvSpPr>
            <a:spLocks xmlns:a="http://schemas.openxmlformats.org/drawingml/2006/main" noGrp="1"/>
          </p:cNvSpPr>
          <p:nvPr/>
        </p:nvSpPr>
        <p:spPr>
          <a:xfrm xmlns:a="http://schemas.openxmlformats.org/drawingml/2006/main">
            <a:off x="4405789" y="2011046"/>
            <a:ext cx="3380343" cy="1192530"/>
          </a:xfrm>
          <a:prstGeom xmlns:a="http://schemas.openxmlformats.org/drawingml/2006/main" prst="roundRect">
            <a:avLst>
              <a:gd name="adj" fmla="val 8253"/>
            </a:avLst>
          </a:prstGeom>
          <a:solidFill xmlns:a="http://schemas.openxmlformats.org/drawingml/2006/main">
            <a:srgbClr val="FFFFFE"/>
          </a:solidFill>
          <a:ln xmlns:a="http://schemas.openxmlformats.org/drawingml/2006/main" w="6350">
            <a:solidFill>
              <a:srgbClr val="E7D3C0"/>
            </a:solidFill>
            <a:prstDash val="solid"/>
          </a:ln>
        </p:spPr>
      </p:sp>
      <p:sp>
        <p:nvSpPr>
          <p:cNvPr id="8" name="Text 6">
            <a:extLst xmlns:a="http://schemas.openxmlformats.org/drawingml/2006/main">
              <a:ext uri="{FF2B5EF4-FFF2-40B4-BE49-F238E27FC236}">
                <a16:creationId xmlns:a16="http://schemas.microsoft.com/office/drawing/2014/main" id="{75485208-2ABF-4B38-A22E-8FEC38012618}"/>
              </a:ext>
            </a:extLst>
          </p:cNvPr>
          <p:cNvSpPr>
            <a:spLocks xmlns:a="http://schemas.openxmlformats.org/drawingml/2006/main" noGrp="1"/>
          </p:cNvSpPr>
          <p:nvPr/>
        </p:nvSpPr>
        <p:spPr>
          <a:xfrm xmlns:a="http://schemas.openxmlformats.org/drawingml/2006/main">
            <a:off x="4636294" y="2241550"/>
            <a:ext cx="3006913"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9C3E22"/>
                </a:solidFill>
                <a:latin typeface="IBM Plex Sans"/>
                <a:ea typeface="IBM Plex Sans"/>
                <a:cs typeface="IBM Plex Sans"/>
              </a:rPr>
              <a:t>Stale or unknown</a:t>
            </a:r>
            <a:endParaRPr sz="1500"/>
          </a:p>
        </p:txBody>
      </p:sp>
      <p:sp>
        <p:nvSpPr>
          <p:cNvPr id="9" name="Text 7">
            <a:extLst xmlns:a="http://schemas.openxmlformats.org/drawingml/2006/main">
              <a:ext uri="{FF2B5EF4-FFF2-40B4-BE49-F238E27FC236}">
                <a16:creationId xmlns:a16="http://schemas.microsoft.com/office/drawing/2014/main" id="{90BD01F3-49FC-4C94-A132-7D3CACCA73E3}"/>
              </a:ext>
            </a:extLst>
          </p:cNvPr>
          <p:cNvSpPr>
            <a:spLocks xmlns:a="http://schemas.openxmlformats.org/drawingml/2006/main" noGrp="1"/>
          </p:cNvSpPr>
          <p:nvPr/>
        </p:nvSpPr>
        <p:spPr>
          <a:xfrm xmlns:a="http://schemas.openxmlformats.org/drawingml/2006/main">
            <a:off x="4636294" y="2546350"/>
            <a:ext cx="3006913"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What nobody has checked recently enough to trust</a:t>
            </a:r>
            <a:endParaRPr sz="1200"/>
          </a:p>
        </p:txBody>
      </p:sp>
      <p:sp>
        <p:nvSpPr>
          <p:cNvPr id="10" name="Shape 8">
            <a:extLst xmlns:a="http://schemas.openxmlformats.org/drawingml/2006/main">
              <a:ext uri="{FF2B5EF4-FFF2-40B4-BE49-F238E27FC236}">
                <a16:creationId xmlns:a16="http://schemas.microsoft.com/office/drawing/2014/main" id="{C3F43AB8-3911-447E-95F4-2EE7DC2DFDDF}"/>
              </a:ext>
            </a:extLst>
          </p:cNvPr>
          <p:cNvSpPr>
            <a:spLocks xmlns:a="http://schemas.openxmlformats.org/drawingml/2006/main" noGrp="1"/>
          </p:cNvSpPr>
          <p:nvPr/>
        </p:nvSpPr>
        <p:spPr>
          <a:xfrm xmlns:a="http://schemas.openxmlformats.org/drawingml/2006/main">
            <a:off x="7995682" y="2011046"/>
            <a:ext cx="3380343" cy="1192530"/>
          </a:xfrm>
          <a:prstGeom xmlns:a="http://schemas.openxmlformats.org/drawingml/2006/main" prst="roundRect">
            <a:avLst>
              <a:gd name="adj" fmla="val 8253"/>
            </a:avLst>
          </a:prstGeom>
          <a:solidFill xmlns:a="http://schemas.openxmlformats.org/drawingml/2006/main">
            <a:srgbClr val="FFFFFE"/>
          </a:solidFill>
          <a:ln xmlns:a="http://schemas.openxmlformats.org/drawingml/2006/main" w="6350">
            <a:solidFill>
              <a:srgbClr val="E7D3C0"/>
            </a:solidFill>
            <a:prstDash val="solid"/>
          </a:ln>
        </p:spPr>
      </p:sp>
      <p:sp>
        <p:nvSpPr>
          <p:cNvPr id="11" name="Text 9">
            <a:extLst xmlns:a="http://schemas.openxmlformats.org/drawingml/2006/main">
              <a:ext uri="{FF2B5EF4-FFF2-40B4-BE49-F238E27FC236}">
                <a16:creationId xmlns:a16="http://schemas.microsoft.com/office/drawing/2014/main" id="{117F5D8D-4DE1-450A-A1DB-627FA25D8AAA}"/>
              </a:ext>
            </a:extLst>
          </p:cNvPr>
          <p:cNvSpPr>
            <a:spLocks xmlns:a="http://schemas.openxmlformats.org/drawingml/2006/main" noGrp="1"/>
          </p:cNvSpPr>
          <p:nvPr/>
        </p:nvSpPr>
        <p:spPr>
          <a:xfrm xmlns:a="http://schemas.openxmlformats.org/drawingml/2006/main">
            <a:off x="8226187" y="2241550"/>
            <a:ext cx="3006913"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9C3E22"/>
                </a:solidFill>
                <a:latin typeface="IBM Plex Sans"/>
                <a:ea typeface="IBM Plex Sans"/>
                <a:cs typeface="IBM Plex Sans"/>
              </a:rPr>
              <a:t>Independently verified</a:t>
            </a:r>
            <a:endParaRPr sz="1500"/>
          </a:p>
        </p:txBody>
      </p:sp>
      <p:sp>
        <p:nvSpPr>
          <p:cNvPr id="12" name="Text 10">
            <a:extLst xmlns:a="http://schemas.openxmlformats.org/drawingml/2006/main">
              <a:ext uri="{FF2B5EF4-FFF2-40B4-BE49-F238E27FC236}">
                <a16:creationId xmlns:a16="http://schemas.microsoft.com/office/drawing/2014/main" id="{E6937E55-7F72-4D02-9784-9C6CDD5D6AAE}"/>
              </a:ext>
            </a:extLst>
          </p:cNvPr>
          <p:cNvSpPr>
            <a:spLocks xmlns:a="http://schemas.openxmlformats.org/drawingml/2006/main" noGrp="1"/>
          </p:cNvSpPr>
          <p:nvPr/>
        </p:nvSpPr>
        <p:spPr>
          <a:xfrm xmlns:a="http://schemas.openxmlformats.org/drawingml/2006/main">
            <a:off x="8226187" y="2546350"/>
            <a:ext cx="3006913"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Repairs a different reviewer actually rechecked, not just claimed</a:t>
            </a:r>
            <a:endParaRPr sz="1200"/>
          </a:p>
        </p:txBody>
      </p:sp>
      <p:sp>
        <p:nvSpPr>
          <p:cNvPr id="13" name="Text 11">
            <a:extLst xmlns:a="http://schemas.openxmlformats.org/drawingml/2006/main">
              <a:ext uri="{FF2B5EF4-FFF2-40B4-BE49-F238E27FC236}">
                <a16:creationId xmlns:a16="http://schemas.microsoft.com/office/drawing/2014/main" id="{B62789A7-29FA-4BCB-A93D-B7A25C3C7839}"/>
              </a:ext>
            </a:extLst>
          </p:cNvPr>
          <p:cNvSpPr>
            <a:spLocks xmlns:a="http://schemas.openxmlformats.org/drawingml/2006/main" noGrp="1"/>
          </p:cNvSpPr>
          <p:nvPr/>
        </p:nvSpPr>
        <p:spPr>
          <a:xfrm xmlns:a="http://schemas.openxmlformats.org/drawingml/2006/main">
            <a:off x="812800" y="3460750"/>
            <a:ext cx="10883392" cy="5969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50"/>
              </a:lnSpc>
              <a:buNone/>
            </a:pPr>
            <a:r>
              <a:rPr sz="1500">
                <a:solidFill>
                  <a:srgbClr val="3A2A22"/>
                </a:solidFill>
                <a:latin typeface="IBM Plex Sans"/>
                <a:ea typeface="IBM Plex Sans"/>
                <a:cs typeface="IBM Plex Sans"/>
              </a:rPr>
              <a:t>We haven’t run a beneficiary pilot yet. These are the numbers a real campus could track from day one, not a certification we’re inventing today.</a:t>
            </a:r>
            <a:endParaRPr sz="1500"/>
          </a:p>
        </p:txBody>
      </p:sp>
      <p:sp>
        <p:nvSpPr>
          <p:cNvPr id="14" name="Text 12">
            <a:extLst xmlns:a="http://schemas.openxmlformats.org/drawingml/2006/main">
              <a:ext uri="{FF2B5EF4-FFF2-40B4-BE49-F238E27FC236}">
                <a16:creationId xmlns:a16="http://schemas.microsoft.com/office/drawing/2014/main" id="{9C18A150-2306-449E-8DAA-61BE29C31896}"/>
              </a:ext>
            </a:extLst>
          </p:cNvPr>
          <p:cNvSpPr>
            <a:spLocks xmlns:a="http://schemas.openxmlformats.org/drawingml/2006/main" noGrp="1"/>
          </p:cNvSpPr>
          <p:nvPr/>
        </p:nvSpPr>
        <p:spPr>
          <a:xfrm xmlns:a="http://schemas.openxmlformats.org/drawingml/2006/main">
            <a:off x="812800" y="6238239"/>
            <a:ext cx="4412361"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A7265"/>
                </a:solidFill>
                <a:latin typeface="IBM Plex Sans"/>
                <a:ea typeface="IBM Plex Sans"/>
                <a:cs typeface="IBM Plex Sans"/>
              </a:rPr>
              <a:t>Aligned with Sugamya Bharat and UN SDGs 10 and 11</a:t>
            </a:r>
            <a:endParaRPr sz="1200"/>
          </a:p>
        </p:txBody>
      </p:sp>
    </p:spTree>
    <p:extLst>
      <p:ext uri="{BB962C8B-B14F-4D97-AF65-F5344CB8AC3E}">
        <p14:creationId xmlns:p14="http://schemas.microsoft.com/office/powerpoint/2010/main" val="1202509346"/>
      </p:ext>
    </p:extLst>
  </p:cSld>
</p:sld>
</file>

<file path=ppt/slides/slide6.xml><?xml version="1.0" encoding="utf-8"?>
<p:sld xmlns:p="http://schemas.openxmlformats.org/presentationml/2006/main">
  <p:cSld>
    <p:bg>
      <p:bgPr>
        <a:solidFill xmlns:a="http://schemas.openxmlformats.org/drawingml/2006/main">
          <a:srgbClr val="FBF3E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1C2C8AB-ECEC-46DC-AC09-EAE604C3CD86}"/>
              </a:ext>
            </a:extLst>
          </p:cNvPr>
          <p:cNvSpPr>
            <a:spLocks xmlns:a="http://schemas.openxmlformats.org/drawingml/2006/main" noGrp="1"/>
          </p:cNvSpPr>
          <p:nvPr/>
        </p:nvSpPr>
        <p:spPr>
          <a:xfrm xmlns:a="http://schemas.openxmlformats.org/drawingml/2006/main">
            <a:off x="812800" y="812800"/>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9C3E22"/>
                </a:solidFill>
                <a:latin typeface="IBM Plex Sans"/>
                <a:ea typeface="IBM Plex Sans"/>
                <a:cs typeface="IBM Plex Sans"/>
              </a:rPr>
              <a:t>WHAT’S NEXT</a:t>
            </a:r>
            <a:endParaRPr sz="1400"/>
          </a:p>
        </p:txBody>
      </p:sp>
      <p:sp>
        <p:nvSpPr>
          <p:cNvPr id="3" name="Text 1">
            <a:extLst xmlns:a="http://schemas.openxmlformats.org/drawingml/2006/main">
              <a:ext uri="{FF2B5EF4-FFF2-40B4-BE49-F238E27FC236}">
                <a16:creationId xmlns:a16="http://schemas.microsoft.com/office/drawing/2014/main" id="{50D53B54-B378-4948-9C12-318B6485395B}"/>
              </a:ext>
            </a:extLst>
          </p:cNvPr>
          <p:cNvSpPr>
            <a:spLocks xmlns:a="http://schemas.openxmlformats.org/drawingml/2006/main" noGrp="1"/>
          </p:cNvSpPr>
          <p:nvPr>
            <p:ph type="title" idx="0"/>
          </p:nvPr>
        </p:nvSpPr>
        <p:spPr>
          <a:xfrm xmlns:a="http://schemas.openxmlformats.org/drawingml/2006/main">
            <a:off x="812800" y="1315721"/>
            <a:ext cx="10883392" cy="492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80"/>
              </a:lnSpc>
              <a:buNone/>
            </a:pPr>
            <a:r>
              <a:rPr sz="3200" b="1" i="0">
                <a:solidFill>
                  <a:srgbClr val="3A2A22"/>
                </a:solidFill>
                <a:latin typeface="Source Serif 4"/>
                <a:ea typeface="Source Serif 4"/>
                <a:cs typeface="Source Serif 4"/>
              </a:rPr>
              <a:t>From prototype to pilot.</a:t>
            </a:r>
            <a:endParaRPr sz="3200"/>
          </a:p>
        </p:txBody>
      </p:sp>
      <p:sp>
        <p:nvSpPr>
          <p:cNvPr id="4" name="Shape 2">
            <a:extLst xmlns:a="http://schemas.openxmlformats.org/drawingml/2006/main">
              <a:ext uri="{FF2B5EF4-FFF2-40B4-BE49-F238E27FC236}">
                <a16:creationId xmlns:a16="http://schemas.microsoft.com/office/drawing/2014/main" id="{51D7EF31-A408-4DF1-9DBD-71561F12463F}"/>
              </a:ext>
            </a:extLst>
          </p:cNvPr>
          <p:cNvSpPr>
            <a:spLocks xmlns:a="http://schemas.openxmlformats.org/drawingml/2006/main" noGrp="1"/>
          </p:cNvSpPr>
          <p:nvPr/>
        </p:nvSpPr>
        <p:spPr>
          <a:xfrm xmlns:a="http://schemas.openxmlformats.org/drawingml/2006/main">
            <a:off x="815975" y="2040257"/>
            <a:ext cx="3380264" cy="1482090"/>
          </a:xfrm>
          <a:prstGeom xmlns:a="http://schemas.openxmlformats.org/drawingml/2006/main" prst="roundRect">
            <a:avLst>
              <a:gd name="adj" fmla="val 6641"/>
            </a:avLst>
          </a:prstGeom>
          <a:solidFill xmlns:a="http://schemas.openxmlformats.org/drawingml/2006/main">
            <a:srgbClr val="FFFFFE"/>
          </a:solidFill>
          <a:ln xmlns:a="http://schemas.openxmlformats.org/drawingml/2006/main" w="6350">
            <a:solidFill>
              <a:srgbClr val="EFE0D1"/>
            </a:solidFill>
            <a:prstDash val="solid"/>
          </a:ln>
        </p:spPr>
      </p:sp>
      <p:pic>
        <p:nvPicPr>
          <p:cNvPr id="5" name="Image 0">
            <a:extLst xmlns:a="http://schemas.openxmlformats.org/drawingml/2006/main">
              <a:ext uri="{FF2B5EF4-FFF2-40B4-BE49-F238E27FC236}">
                <a16:creationId xmlns:a16="http://schemas.microsoft.com/office/drawing/2014/main" id="{6C7246D3-2E4E-42E2-91AA-37D4DEA33260}"/>
              </a:ext>
            </a:extLst>
          </p:cNvPr>
          <p:cNvPicPr>
            <a:picLocks xmlns:a="http://schemas.openxmlformats.org/drawingml/2006/main" noChangeAspect="1"/>
          </p:cNvPicPr>
          <p:nvPr/>
        </p:nvPicPr>
        <p:blipFill>
          <a:blip xmlns:r="http://schemas.openxmlformats.org/officeDocument/2006/relationships" xmlns:a="http://schemas.openxmlformats.org/drawingml/2006/main" r:embed="Rc5d90cb176f84f77"/>
          <a:srcRect xmlns:a="http://schemas.openxmlformats.org/drawingml/2006/main" l="0" t="0" r="0" b="0"/>
          <a:stretch xmlns:a="http://schemas.openxmlformats.org/drawingml/2006/main"/>
        </p:blipFill>
        <p:spPr>
          <a:xfrm xmlns:a="http://schemas.openxmlformats.org/drawingml/2006/main">
            <a:off x="1046480" y="2270761"/>
            <a:ext cx="228600" cy="22860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B51DF174-293B-4D9B-B184-7CD587B9AD43}"/>
              </a:ext>
            </a:extLst>
          </p:cNvPr>
          <p:cNvSpPr>
            <a:spLocks xmlns:a="http://schemas.openxmlformats.org/drawingml/2006/main" noGrp="1"/>
          </p:cNvSpPr>
          <p:nvPr/>
        </p:nvSpPr>
        <p:spPr>
          <a:xfrm xmlns:a="http://schemas.openxmlformats.org/drawingml/2006/main">
            <a:off x="1046480" y="2575561"/>
            <a:ext cx="3006831"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3A2A22"/>
                </a:solidFill>
                <a:latin typeface="IBM Plex Sans"/>
                <a:ea typeface="IBM Plex Sans"/>
                <a:cs typeface="IBM Plex Sans"/>
              </a:rPr>
              <a:t>One real campus pilot</a:t>
            </a:r>
            <a:endParaRPr sz="1400"/>
          </a:p>
        </p:txBody>
      </p:sp>
      <p:sp>
        <p:nvSpPr>
          <p:cNvPr id="7" name="Text 4">
            <a:extLst xmlns:a="http://schemas.openxmlformats.org/drawingml/2006/main">
              <a:ext uri="{FF2B5EF4-FFF2-40B4-BE49-F238E27FC236}">
                <a16:creationId xmlns:a16="http://schemas.microsoft.com/office/drawing/2014/main" id="{5214C531-F641-4770-8BE7-48F1387BD50A}"/>
              </a:ext>
            </a:extLst>
          </p:cNvPr>
          <p:cNvSpPr>
            <a:spLocks xmlns:a="http://schemas.openxmlformats.org/drawingml/2006/main" noGrp="1"/>
          </p:cNvSpPr>
          <p:nvPr/>
        </p:nvSpPr>
        <p:spPr>
          <a:xfrm xmlns:a="http://schemas.openxmlformats.org/drawingml/2006/main">
            <a:off x="1046480" y="2865121"/>
            <a:ext cx="3006831"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A facilities team and real beneficiary testing, not synthetic fixtures</a:t>
            </a:r>
            <a:endParaRPr sz="1200"/>
          </a:p>
        </p:txBody>
      </p:sp>
      <p:sp>
        <p:nvSpPr>
          <p:cNvPr id="8" name="Shape 5">
            <a:extLst xmlns:a="http://schemas.openxmlformats.org/drawingml/2006/main">
              <a:ext uri="{FF2B5EF4-FFF2-40B4-BE49-F238E27FC236}">
                <a16:creationId xmlns:a16="http://schemas.microsoft.com/office/drawing/2014/main" id="{10A6E873-1289-4307-B8F0-186ED02E1FFF}"/>
              </a:ext>
            </a:extLst>
          </p:cNvPr>
          <p:cNvSpPr>
            <a:spLocks xmlns:a="http://schemas.openxmlformats.org/drawingml/2006/main" noGrp="1"/>
          </p:cNvSpPr>
          <p:nvPr/>
        </p:nvSpPr>
        <p:spPr>
          <a:xfrm xmlns:a="http://schemas.openxmlformats.org/drawingml/2006/main">
            <a:off x="4405789" y="2040257"/>
            <a:ext cx="3380343" cy="1482090"/>
          </a:xfrm>
          <a:prstGeom xmlns:a="http://schemas.openxmlformats.org/drawingml/2006/main" prst="roundRect">
            <a:avLst>
              <a:gd name="adj" fmla="val 6641"/>
            </a:avLst>
          </a:prstGeom>
          <a:solidFill xmlns:a="http://schemas.openxmlformats.org/drawingml/2006/main">
            <a:srgbClr val="FFFFFE"/>
          </a:solidFill>
          <a:ln xmlns:a="http://schemas.openxmlformats.org/drawingml/2006/main" w="6350">
            <a:solidFill>
              <a:srgbClr val="EFE0D1"/>
            </a:solidFill>
            <a:prstDash val="solid"/>
          </a:ln>
        </p:spPr>
      </p:sp>
      <p:pic>
        <p:nvPicPr>
          <p:cNvPr id="9" name="Image 1">
            <a:extLst xmlns:a="http://schemas.openxmlformats.org/drawingml/2006/main">
              <a:ext uri="{FF2B5EF4-FFF2-40B4-BE49-F238E27FC236}">
                <a16:creationId xmlns:a16="http://schemas.microsoft.com/office/drawing/2014/main" id="{D8828918-8827-4D2B-A4BD-32E2F0986001}"/>
              </a:ext>
            </a:extLst>
          </p:cNvPr>
          <p:cNvPicPr>
            <a:picLocks xmlns:a="http://schemas.openxmlformats.org/drawingml/2006/main" noChangeAspect="1"/>
          </p:cNvPicPr>
          <p:nvPr/>
        </p:nvPicPr>
        <p:blipFill>
          <a:blip xmlns:r="http://schemas.openxmlformats.org/officeDocument/2006/relationships" xmlns:a="http://schemas.openxmlformats.org/drawingml/2006/main" r:embed="R71aad4ef232e4520"/>
          <a:srcRect xmlns:a="http://schemas.openxmlformats.org/drawingml/2006/main" l="0" t="0" r="0" b="0"/>
          <a:stretch xmlns:a="http://schemas.openxmlformats.org/drawingml/2006/main"/>
        </p:blipFill>
        <p:spPr>
          <a:xfrm xmlns:a="http://schemas.openxmlformats.org/drawingml/2006/main">
            <a:off x="4636294" y="2270761"/>
            <a:ext cx="228600" cy="22860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392ED73C-4287-459A-80ED-BDBFFBF7C03A}"/>
              </a:ext>
            </a:extLst>
          </p:cNvPr>
          <p:cNvSpPr>
            <a:spLocks xmlns:a="http://schemas.openxmlformats.org/drawingml/2006/main" noGrp="1"/>
          </p:cNvSpPr>
          <p:nvPr/>
        </p:nvSpPr>
        <p:spPr>
          <a:xfrm xmlns:a="http://schemas.openxmlformats.org/drawingml/2006/main">
            <a:off x="4636294" y="2575561"/>
            <a:ext cx="3006913"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3A2A22"/>
                </a:solidFill>
                <a:latin typeface="IBM Plex Sans"/>
                <a:ea typeface="IBM Plex Sans"/>
                <a:cs typeface="IBM Plex Sans"/>
              </a:rPr>
              <a:t>Server-enforced relay rule</a:t>
            </a:r>
            <a:endParaRPr sz="1400"/>
          </a:p>
        </p:txBody>
      </p:sp>
      <p:sp>
        <p:nvSpPr>
          <p:cNvPr id="11" name="Text 7">
            <a:extLst xmlns:a="http://schemas.openxmlformats.org/drawingml/2006/main">
              <a:ext uri="{FF2B5EF4-FFF2-40B4-BE49-F238E27FC236}">
                <a16:creationId xmlns:a16="http://schemas.microsoft.com/office/drawing/2014/main" id="{A7B5C6D9-24C7-4AC7-8A24-E16C6115991B}"/>
              </a:ext>
            </a:extLst>
          </p:cNvPr>
          <p:cNvSpPr>
            <a:spLocks xmlns:a="http://schemas.openxmlformats.org/drawingml/2006/main" noGrp="1"/>
          </p:cNvSpPr>
          <p:nvPr/>
        </p:nvSpPr>
        <p:spPr>
          <a:xfrm xmlns:a="http://schemas.openxmlformats.org/drawingml/2006/main">
            <a:off x="4636294" y="2865121"/>
            <a:ext cx="3006913"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A database trigger rejects a self-recheck, not just client-side code</a:t>
            </a:r>
            <a:endParaRPr sz="1200"/>
          </a:p>
        </p:txBody>
      </p:sp>
      <p:sp>
        <p:nvSpPr>
          <p:cNvPr id="12" name="Shape 8">
            <a:extLst xmlns:a="http://schemas.openxmlformats.org/drawingml/2006/main">
              <a:ext uri="{FF2B5EF4-FFF2-40B4-BE49-F238E27FC236}">
                <a16:creationId xmlns:a16="http://schemas.microsoft.com/office/drawing/2014/main" id="{149145E0-AE88-40F0-ACA4-2E5ABB1E657E}"/>
              </a:ext>
            </a:extLst>
          </p:cNvPr>
          <p:cNvSpPr>
            <a:spLocks xmlns:a="http://schemas.openxmlformats.org/drawingml/2006/main" noGrp="1"/>
          </p:cNvSpPr>
          <p:nvPr/>
        </p:nvSpPr>
        <p:spPr>
          <a:xfrm xmlns:a="http://schemas.openxmlformats.org/drawingml/2006/main">
            <a:off x="7995682" y="2040257"/>
            <a:ext cx="3380343" cy="1482090"/>
          </a:xfrm>
          <a:prstGeom xmlns:a="http://schemas.openxmlformats.org/drawingml/2006/main" prst="roundRect">
            <a:avLst>
              <a:gd name="adj" fmla="val 6641"/>
            </a:avLst>
          </a:prstGeom>
          <a:solidFill xmlns:a="http://schemas.openxmlformats.org/drawingml/2006/main">
            <a:srgbClr val="FFFFFE"/>
          </a:solidFill>
          <a:ln xmlns:a="http://schemas.openxmlformats.org/drawingml/2006/main" w="6350">
            <a:solidFill>
              <a:srgbClr val="EFE0D1"/>
            </a:solidFill>
            <a:prstDash val="solid"/>
          </a:ln>
        </p:spPr>
      </p:sp>
      <p:pic>
        <p:nvPicPr>
          <p:cNvPr id="13" name="Image 2">
            <a:extLst xmlns:a="http://schemas.openxmlformats.org/drawingml/2006/main">
              <a:ext uri="{FF2B5EF4-FFF2-40B4-BE49-F238E27FC236}">
                <a16:creationId xmlns:a16="http://schemas.microsoft.com/office/drawing/2014/main" id="{E196109D-FF45-4AE2-85D6-45CD63F85B46}"/>
              </a:ext>
            </a:extLst>
          </p:cNvPr>
          <p:cNvPicPr>
            <a:picLocks xmlns:a="http://schemas.openxmlformats.org/drawingml/2006/main" noChangeAspect="1"/>
          </p:cNvPicPr>
          <p:nvPr/>
        </p:nvPicPr>
        <p:blipFill>
          <a:blip xmlns:r="http://schemas.openxmlformats.org/officeDocument/2006/relationships" xmlns:a="http://schemas.openxmlformats.org/drawingml/2006/main" r:embed="Ra77f4bfb9fc04226"/>
          <a:srcRect xmlns:a="http://schemas.openxmlformats.org/drawingml/2006/main" l="0" t="0" r="0" b="0"/>
          <a:stretch xmlns:a="http://schemas.openxmlformats.org/drawingml/2006/main"/>
        </p:blipFill>
        <p:spPr>
          <a:xfrm xmlns:a="http://schemas.openxmlformats.org/drawingml/2006/main">
            <a:off x="8226187" y="2270761"/>
            <a:ext cx="228600" cy="228600"/>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AD66FF3E-F513-401F-8782-2B4D8F0A46D2}"/>
              </a:ext>
            </a:extLst>
          </p:cNvPr>
          <p:cNvSpPr>
            <a:spLocks xmlns:a="http://schemas.openxmlformats.org/drawingml/2006/main" noGrp="1"/>
          </p:cNvSpPr>
          <p:nvPr/>
        </p:nvSpPr>
        <p:spPr>
          <a:xfrm xmlns:a="http://schemas.openxmlformats.org/drawingml/2006/main">
            <a:off x="8226187" y="2575561"/>
            <a:ext cx="3006913"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3A2A22"/>
                </a:solidFill>
                <a:latin typeface="IBM Plex Sans"/>
                <a:ea typeface="IBM Plex Sans"/>
                <a:cs typeface="IBM Plex Sans"/>
              </a:rPr>
              <a:t>QR check-ins per segment</a:t>
            </a:r>
            <a:endParaRPr sz="1400"/>
          </a:p>
        </p:txBody>
      </p:sp>
      <p:sp>
        <p:nvSpPr>
          <p:cNvPr id="15" name="Text 10">
            <a:extLst xmlns:a="http://schemas.openxmlformats.org/drawingml/2006/main">
              <a:ext uri="{FF2B5EF4-FFF2-40B4-BE49-F238E27FC236}">
                <a16:creationId xmlns:a16="http://schemas.microsoft.com/office/drawing/2014/main" id="{CBFE85DB-FC77-4AB8-908F-EEBDB5B08E78}"/>
              </a:ext>
            </a:extLst>
          </p:cNvPr>
          <p:cNvSpPr>
            <a:spLocks xmlns:a="http://schemas.openxmlformats.org/drawingml/2006/main" noGrp="1"/>
          </p:cNvSpPr>
          <p:nvPr/>
        </p:nvSpPr>
        <p:spPr>
          <a:xfrm xmlns:a="http://schemas.openxmlformats.org/drawingml/2006/main">
            <a:off x="8226187" y="2865121"/>
            <a:ext cx="3006913" cy="452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5A4A3C"/>
                </a:solidFill>
                <a:latin typeface="IBM Plex Sans"/>
                <a:ea typeface="IBM Plex Sans"/>
                <a:cs typeface="IBM Plex Sans"/>
              </a:rPr>
              <a:t>A two-tap works or blocked scan lowers the cost of a fresh observation</a:t>
            </a:r>
            <a:endParaRPr sz="1200"/>
          </a:p>
        </p:txBody>
      </p:sp>
      <p:sp>
        <p:nvSpPr>
          <p:cNvPr id="16" name="Text 11">
            <a:extLst xmlns:a="http://schemas.openxmlformats.org/drawingml/2006/main">
              <a:ext uri="{FF2B5EF4-FFF2-40B4-BE49-F238E27FC236}">
                <a16:creationId xmlns:a16="http://schemas.microsoft.com/office/drawing/2014/main" id="{DF720406-29E0-421E-A504-A09D09502D6E}"/>
              </a:ext>
            </a:extLst>
          </p:cNvPr>
          <p:cNvSpPr>
            <a:spLocks xmlns:a="http://schemas.openxmlformats.org/drawingml/2006/main" noGrp="1"/>
          </p:cNvSpPr>
          <p:nvPr/>
        </p:nvSpPr>
        <p:spPr>
          <a:xfrm xmlns:a="http://schemas.openxmlformats.org/drawingml/2006/main">
            <a:off x="812800" y="6238239"/>
            <a:ext cx="4778693"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A7265"/>
                </a:solidFill>
                <a:latin typeface="IBM Plex Sans"/>
                <a:ea typeface="IBM Plex Sans"/>
                <a:cs typeface="IBM Plex Sans"/>
              </a:rPr>
              <a:t>Full production system design in docs/ARCHITECTURE.md</a:t>
            </a:r>
            <a:endParaRPr sz="1200"/>
          </a:p>
        </p:txBody>
      </p:sp>
    </p:spTree>
    <p:extLst>
      <p:ext uri="{BB962C8B-B14F-4D97-AF65-F5344CB8AC3E}">
        <p14:creationId xmlns:p14="http://schemas.microsoft.com/office/powerpoint/2010/main" val="576477860"/>
      </p:ext>
    </p:extLst>
  </p:cSld>
</p:sld>
</file>

<file path=ppt/slides/slide7.xml><?xml version="1.0" encoding="utf-8"?>
<p:sld xmlns:p="http://schemas.openxmlformats.org/presentationml/2006/main">
  <p:cSld>
    <p:bg>
      <p:bgPr>
        <a:solidFill xmlns:a="http://schemas.openxmlformats.org/drawingml/2006/main">
          <a:srgbClr val="2A1D16"/>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5AEEDD7-0453-4C38-AF1D-4A76139E9479}"/>
              </a:ext>
            </a:extLst>
          </p:cNvPr>
          <p:cNvSpPr>
            <a:spLocks xmlns:a="http://schemas.openxmlformats.org/drawingml/2006/main" noGrp="1"/>
          </p:cNvSpPr>
          <p:nvPr/>
        </p:nvSpPr>
        <p:spPr>
          <a:xfrm xmlns:a="http://schemas.openxmlformats.org/drawingml/2006/main">
            <a:off x="812800" y="812800"/>
            <a:ext cx="108833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spc="150">
                <a:solidFill>
                  <a:srgbClr val="E0795A"/>
                </a:solidFill>
                <a:latin typeface="IBM Plex Sans"/>
                <a:ea typeface="IBM Plex Sans"/>
                <a:cs typeface="IBM Plex Sans"/>
              </a:rPr>
              <a:t>THE ASK</a:t>
            </a:r>
            <a:endParaRPr sz="1400"/>
          </a:p>
        </p:txBody>
      </p:sp>
      <p:sp>
        <p:nvSpPr>
          <p:cNvPr id="3" name="Text 1">
            <a:extLst xmlns:a="http://schemas.openxmlformats.org/drawingml/2006/main">
              <a:ext uri="{FF2B5EF4-FFF2-40B4-BE49-F238E27FC236}">
                <a16:creationId xmlns:a16="http://schemas.microsoft.com/office/drawing/2014/main" id="{4B3037BF-D692-4A29-850C-C2A74165BF1D}"/>
              </a:ext>
            </a:extLst>
          </p:cNvPr>
          <p:cNvSpPr>
            <a:spLocks xmlns:a="http://schemas.openxmlformats.org/drawingml/2006/main" noGrp="1"/>
          </p:cNvSpPr>
          <p:nvPr>
            <p:ph type="title" idx="0"/>
          </p:nvPr>
        </p:nvSpPr>
        <p:spPr>
          <a:xfrm xmlns:a="http://schemas.openxmlformats.org/drawingml/2006/main">
            <a:off x="812800" y="1214121"/>
            <a:ext cx="1088339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80"/>
              </a:lnSpc>
              <a:buNone/>
            </a:pPr>
            <a:r>
              <a:rPr sz="3200" b="1" i="0">
                <a:solidFill>
                  <a:srgbClr val="FBF3EA"/>
                </a:solidFill>
                <a:latin typeface="Source Serif 4"/>
                <a:ea typeface="Source Serif 4"/>
                <a:cs typeface="Source Serif 4"/>
              </a:rPr>
              <a:t>Try it. Break it. Tell us where the relay fails in your building.</a:t>
            </a:r>
            <a:endParaRPr sz="3200"/>
          </a:p>
        </p:txBody>
      </p:sp>
      <p:sp>
        <p:nvSpPr>
          <p:cNvPr id="4" name="Text 2">
            <a:extLst xmlns:a="http://schemas.openxmlformats.org/drawingml/2006/main">
              <a:ext uri="{FF2B5EF4-FFF2-40B4-BE49-F238E27FC236}">
                <a16:creationId xmlns:a16="http://schemas.microsoft.com/office/drawing/2014/main" id="{5E082C78-B0EF-495B-99C2-29776232BAAE}"/>
              </a:ext>
            </a:extLst>
          </p:cNvPr>
          <p:cNvSpPr>
            <a:spLocks xmlns:a="http://schemas.openxmlformats.org/drawingml/2006/main" noGrp="1"/>
          </p:cNvSpPr>
          <p:nvPr/>
        </p:nvSpPr>
        <p:spPr>
          <a:xfrm xmlns:a="http://schemas.openxmlformats.org/drawingml/2006/main">
            <a:off x="812800" y="5100321"/>
            <a:ext cx="5284724"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E8CFC2"/>
                </a:solidFill>
                <a:latin typeface="IBM Plex Sans"/>
                <a:ea typeface="IBM Plex Sans"/>
                <a:cs typeface="IBM Plex Sans"/>
              </a:rPr>
              <a:t>Bhaskar Agarwal, team lead</a:t>
            </a:r>
            <a:endParaRPr sz="1200"/>
          </a:p>
        </p:txBody>
      </p:sp>
      <p:sp>
        <p:nvSpPr>
          <p:cNvPr id="5" name="Text 3">
            <a:extLst xmlns:a="http://schemas.openxmlformats.org/drawingml/2006/main">
              <a:ext uri="{FF2B5EF4-FFF2-40B4-BE49-F238E27FC236}">
                <a16:creationId xmlns:a16="http://schemas.microsoft.com/office/drawing/2014/main" id="{E759F1EC-DEFA-422F-BDA2-40CA33F76200}"/>
              </a:ext>
            </a:extLst>
          </p:cNvPr>
          <p:cNvSpPr>
            <a:spLocks xmlns:a="http://schemas.openxmlformats.org/drawingml/2006/main" noGrp="1"/>
          </p:cNvSpPr>
          <p:nvPr/>
        </p:nvSpPr>
        <p:spPr>
          <a:xfrm xmlns:a="http://schemas.openxmlformats.org/drawingml/2006/main">
            <a:off x="812800" y="5364482"/>
            <a:ext cx="5284724"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E8CFC2"/>
                </a:solidFill>
                <a:latin typeface="IBM Plex Sans"/>
                <a:ea typeface="IBM Plex Sans"/>
                <a:cs typeface="IBM Plex Sans"/>
              </a:rPr>
              <a:t>Lakshya Seth, engineering</a:t>
            </a:r>
            <a:endParaRPr sz="1200"/>
          </a:p>
        </p:txBody>
      </p:sp>
      <p:sp>
        <p:nvSpPr>
          <p:cNvPr id="6" name="Text 4">
            <a:extLst xmlns:a="http://schemas.openxmlformats.org/drawingml/2006/main">
              <a:ext uri="{FF2B5EF4-FFF2-40B4-BE49-F238E27FC236}">
                <a16:creationId xmlns:a16="http://schemas.microsoft.com/office/drawing/2014/main" id="{516039F8-53EE-4176-8695-5A73C32A578B}"/>
              </a:ext>
            </a:extLst>
          </p:cNvPr>
          <p:cNvSpPr>
            <a:spLocks xmlns:a="http://schemas.openxmlformats.org/drawingml/2006/main" noGrp="1"/>
          </p:cNvSpPr>
          <p:nvPr/>
        </p:nvSpPr>
        <p:spPr>
          <a:xfrm xmlns:a="http://schemas.openxmlformats.org/drawingml/2006/main">
            <a:off x="812800" y="5628639"/>
            <a:ext cx="5284724"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E8CFC2"/>
                </a:solidFill>
                <a:latin typeface="IBM Plex Sans"/>
                <a:ea typeface="IBM Plex Sans"/>
                <a:cs typeface="IBM Plex Sans"/>
              </a:rPr>
              <a:t>Aashi Gupta, engineering</a:t>
            </a:r>
            <a:endParaRPr sz="1200"/>
          </a:p>
        </p:txBody>
      </p:sp>
      <p:sp>
        <p:nvSpPr>
          <p:cNvPr id="7" name="Text 5">
            <a:extLst xmlns:a="http://schemas.openxmlformats.org/drawingml/2006/main">
              <a:ext uri="{FF2B5EF4-FFF2-40B4-BE49-F238E27FC236}">
                <a16:creationId xmlns:a16="http://schemas.microsoft.com/office/drawing/2014/main" id="{152FC655-F788-4E0E-BD0B-4A4FDA8C6466}"/>
              </a:ext>
            </a:extLst>
          </p:cNvPr>
          <p:cNvSpPr>
            <a:spLocks xmlns:a="http://schemas.openxmlformats.org/drawingml/2006/main" noGrp="1"/>
          </p:cNvSpPr>
          <p:nvPr/>
        </p:nvSpPr>
        <p:spPr>
          <a:xfrm xmlns:a="http://schemas.openxmlformats.org/drawingml/2006/main">
            <a:off x="6094476" y="5628639"/>
            <a:ext cx="5284724" cy="2387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53322"/>
          </a:bodyPr>
          <a:lstStyle xmlns:a="http://schemas.openxmlformats.org/drawingml/2006/main"/>
          <a:p xmlns:a="http://schemas.openxmlformats.org/drawingml/2006/main">
            <a:pPr marL="0" indent="0" algn="r">
              <a:lnSpc>
                <a:spcPts val="1680"/>
              </a:lnSpc>
              <a:buNone/>
            </a:pPr>
            <a:r>
              <a:rPr sz="1200">
                <a:solidFill>
                  <a:srgbClr val="E8CFC2"/>
                </a:solidFill>
                <a:latin typeface="IBM Plex Sans"/>
                <a:ea typeface="IBM Plex Sans"/>
                <a:cs typeface="IBM Plex Sans"/>
              </a:rPr>
              <a:t>Download the browser-local verification history. The production design shows how authenticated, tamper-evident records could enforce the relay rule in a pilot.</a:t>
            </a:r>
            <a:endParaRPr sz="1200"/>
          </a:p>
        </p:txBody>
      </p:sp>
    </p:spTree>
    <p:extLst>
      <p:ext uri="{BB962C8B-B14F-4D97-AF65-F5344CB8AC3E}">
        <p14:creationId xmlns:p14="http://schemas.microsoft.com/office/powerpoint/2010/main" val="2032150328"/>
      </p:ext>
    </p:extLst>
  </p:cSld>
</p:sld>
</file>

<file path=ppt/theme/theme1.xml><?xml version="1.0" encoding="utf-8"?>
<a:theme xmlns:a="http://schemas.openxmlformats.org/drawingml/2006/main" name="AccessRelay Pitch Deck">
  <a:themeElements>
    <a:clrScheme name="AccessRelay Pitch Deck">
      <a:dk1>
        <a:srgbClr val="3A2A22"/>
      </a:dk1>
      <a:lt1>
        <a:srgbClr val="FBF3EA"/>
      </a:lt1>
      <a:dk2>
        <a:srgbClr val="6A5C54"/>
      </a:dk2>
      <a:lt2>
        <a:srgbClr val="E8DFD6"/>
      </a:lt2>
      <a:accent1>
        <a:srgbClr val="9C3E22"/>
      </a:accent1>
      <a:accent2>
        <a:srgbClr val="E0795A"/>
      </a:accent2>
      <a:accent3>
        <a:srgbClr val="5A4A3C"/>
      </a:accent3>
      <a:accent4>
        <a:srgbClr val="E8CFC2"/>
      </a:accent4>
      <a:accent5>
        <a:srgbClr val="8A7265"/>
      </a:accent5>
      <a:accent6>
        <a:srgbClr val="C9B6A8"/>
      </a:accent6>
      <a:hlink>
        <a:srgbClr val="0563C1"/>
      </a:hlink>
      <a:folHlink>
        <a:srgbClr val="954F72"/>
      </a:folHlink>
    </a:clrScheme>
    <a:fontScheme name="AccessRelay Pitch Deck">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ccessRelay Pitch Deck">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2026-10-27T14:47:46.2310000Z</dcterms:created>
  <dcterms:modified xsi:type="dcterms:W3CDTF">2026-10-27T14:47:46.2310000Z</dcterms:modified>
</coreProperties>
</file>